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Italics" charset="1" panose="00000800000000000000"/>
      <p:regular r:id="rId21"/>
    </p:embeddedFont>
    <p:embeddedFont>
      <p:font typeface="Poppins Italics" charset="1" panose="00000500000000000000"/>
      <p:regular r:id="rId22"/>
    </p:embeddedFont>
    <p:embeddedFont>
      <p:font typeface="Poppins Bold" charset="1" panose="00000800000000000000"/>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6.pn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7.png" Type="http://schemas.openxmlformats.org/officeDocument/2006/relationships/image"/><Relationship Id="rId5"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90750" y="1755288"/>
            <a:ext cx="8900347" cy="8900347"/>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590505" y="1028700"/>
            <a:ext cx="8274735" cy="8229600"/>
          </a:xfrm>
          <a:custGeom>
            <a:avLst/>
            <a:gdLst/>
            <a:ahLst/>
            <a:cxnLst/>
            <a:rect r="r" b="b" t="t" l="l"/>
            <a:pathLst>
              <a:path h="8229600" w="8274735">
                <a:moveTo>
                  <a:pt x="0" y="0"/>
                </a:moveTo>
                <a:lnTo>
                  <a:pt x="8274735" y="0"/>
                </a:lnTo>
                <a:lnTo>
                  <a:pt x="8274735" y="8229600"/>
                </a:lnTo>
                <a:lnTo>
                  <a:pt x="0" y="8229600"/>
                </a:lnTo>
                <a:lnTo>
                  <a:pt x="0" y="0"/>
                </a:lnTo>
                <a:close/>
              </a:path>
            </a:pathLst>
          </a:custGeom>
          <a:blipFill>
            <a:blip r:embed="rId2"/>
            <a:stretch>
              <a:fillRect l="0" t="0" r="0" b="0"/>
            </a:stretch>
          </a:blipFill>
        </p:spPr>
      </p:sp>
      <p:grpSp>
        <p:nvGrpSpPr>
          <p:cNvPr name="Group 9" id="9"/>
          <p:cNvGrpSpPr/>
          <p:nvPr/>
        </p:nvGrpSpPr>
        <p:grpSpPr>
          <a:xfrm rot="-10800000">
            <a:off x="-386260" y="-365965"/>
            <a:ext cx="3748769" cy="3748769"/>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11" id="11"/>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413047" y="2928353"/>
            <a:ext cx="9085358" cy="2229359"/>
          </a:xfrm>
          <a:prstGeom prst="rect">
            <a:avLst/>
          </a:prstGeom>
        </p:spPr>
        <p:txBody>
          <a:bodyPr anchor="t" rtlCol="false" tIns="0" lIns="0" bIns="0" rIns="0">
            <a:spAutoFit/>
          </a:bodyPr>
          <a:lstStyle/>
          <a:p>
            <a:pPr algn="l">
              <a:lnSpc>
                <a:spcPts val="8270"/>
              </a:lnSpc>
            </a:pPr>
            <a:r>
              <a:rPr lang="en-US" b="true" sz="8270" i="true" spc="-206">
                <a:solidFill>
                  <a:srgbClr val="2A2F3D"/>
                </a:solidFill>
                <a:latin typeface="Poppins Bold Italics"/>
                <a:ea typeface="Poppins Bold Italics"/>
                <a:cs typeface="Poppins Bold Italics"/>
                <a:sym typeface="Poppins Bold Italics"/>
              </a:rPr>
              <a:t>CPSC 332 - PROJECT</a:t>
            </a:r>
          </a:p>
        </p:txBody>
      </p:sp>
      <p:sp>
        <p:nvSpPr>
          <p:cNvPr name="TextBox 13" id="13"/>
          <p:cNvSpPr txBox="true"/>
          <p:nvPr/>
        </p:nvSpPr>
        <p:spPr>
          <a:xfrm rot="0">
            <a:off x="1413047" y="6224511"/>
            <a:ext cx="7730953" cy="1008442"/>
          </a:xfrm>
          <a:prstGeom prst="rect">
            <a:avLst/>
          </a:prstGeom>
        </p:spPr>
        <p:txBody>
          <a:bodyPr anchor="t" rtlCol="false" tIns="0" lIns="0" bIns="0" rIns="0">
            <a:spAutoFit/>
          </a:bodyPr>
          <a:lstStyle/>
          <a:p>
            <a:pPr algn="l">
              <a:lnSpc>
                <a:spcPts val="3702"/>
              </a:lnSpc>
            </a:pPr>
            <a:r>
              <a:rPr lang="en-US" sz="3702" i="true">
                <a:solidFill>
                  <a:srgbClr val="2A2F3D"/>
                </a:solidFill>
                <a:latin typeface="Poppins Italics"/>
                <a:ea typeface="Poppins Italics"/>
                <a:cs typeface="Poppins Italics"/>
                <a:sym typeface="Poppins Italics"/>
              </a:rPr>
              <a:t>Using MySQL To Connect Country Data At A Global Scale</a:t>
            </a:r>
          </a:p>
        </p:txBody>
      </p:sp>
      <p:sp>
        <p:nvSpPr>
          <p:cNvPr name="TextBox 14" id="14"/>
          <p:cNvSpPr txBox="true"/>
          <p:nvPr/>
        </p:nvSpPr>
        <p:spPr>
          <a:xfrm rot="0">
            <a:off x="1413047" y="7415076"/>
            <a:ext cx="5295527" cy="617660"/>
          </a:xfrm>
          <a:prstGeom prst="rect">
            <a:avLst/>
          </a:prstGeom>
        </p:spPr>
        <p:txBody>
          <a:bodyPr anchor="t" rtlCol="false" tIns="0" lIns="0" bIns="0" rIns="0">
            <a:spAutoFit/>
          </a:bodyPr>
          <a:lstStyle/>
          <a:p>
            <a:pPr algn="l">
              <a:lnSpc>
                <a:spcPts val="2348"/>
              </a:lnSpc>
            </a:pPr>
            <a:r>
              <a:rPr lang="en-US" sz="2134" b="true">
                <a:solidFill>
                  <a:srgbClr val="2A2F3D"/>
                </a:solidFill>
                <a:latin typeface="Poppins Bold"/>
                <a:ea typeface="Poppins Bold"/>
                <a:cs typeface="Poppins Bold"/>
                <a:sym typeface="Poppins Bold"/>
              </a:rPr>
              <a:t>Emiliano Manalo, Sean Lowry, Ava Saltzman, And Zeus Salinas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CE0ED"/>
        </a:solidFill>
      </p:bgPr>
    </p:bg>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744501" y="4709038"/>
            <a:ext cx="5946596" cy="5946596"/>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3055443" cy="3055443"/>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10800000">
            <a:off x="2130241" y="3624582"/>
            <a:ext cx="4149072" cy="1518918"/>
            <a:chOff x="0" y="0"/>
            <a:chExt cx="4481681" cy="1640682"/>
          </a:xfrm>
        </p:grpSpPr>
        <p:sp>
          <p:nvSpPr>
            <p:cNvPr name="Freeform 12" id="12"/>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13" id="13"/>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2130241" y="2392508"/>
            <a:ext cx="4149072" cy="2263271"/>
            <a:chOff x="0" y="0"/>
            <a:chExt cx="2084171" cy="1136891"/>
          </a:xfrm>
        </p:grpSpPr>
        <p:sp>
          <p:nvSpPr>
            <p:cNvPr name="Freeform 15" id="15"/>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2"/>
              <a:stretch>
                <a:fillRect l="0" t="-11069" r="0" b="-11069"/>
              </a:stretch>
            </a:blipFill>
          </p:spPr>
        </p:sp>
      </p:grpSp>
      <p:grpSp>
        <p:nvGrpSpPr>
          <p:cNvPr name="Group 16" id="16"/>
          <p:cNvGrpSpPr/>
          <p:nvPr/>
        </p:nvGrpSpPr>
        <p:grpSpPr>
          <a:xfrm rot="-10800000">
            <a:off x="7069464" y="3624582"/>
            <a:ext cx="4149072" cy="1518918"/>
            <a:chOff x="0" y="0"/>
            <a:chExt cx="4481681" cy="1640682"/>
          </a:xfrm>
        </p:grpSpPr>
        <p:sp>
          <p:nvSpPr>
            <p:cNvPr name="Freeform 17" id="17"/>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18" id="18"/>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7069464" y="2392508"/>
            <a:ext cx="4149072" cy="2263271"/>
            <a:chOff x="0" y="0"/>
            <a:chExt cx="2084171" cy="1136891"/>
          </a:xfrm>
        </p:grpSpPr>
        <p:sp>
          <p:nvSpPr>
            <p:cNvPr name="Freeform 20" id="20"/>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3"/>
              <a:stretch>
                <a:fillRect l="-850" t="0" r="-850" b="0"/>
              </a:stretch>
            </a:blipFill>
          </p:spPr>
        </p:sp>
      </p:grpSp>
      <p:grpSp>
        <p:nvGrpSpPr>
          <p:cNvPr name="Group 21" id="21"/>
          <p:cNvGrpSpPr/>
          <p:nvPr/>
        </p:nvGrpSpPr>
        <p:grpSpPr>
          <a:xfrm rot="-10800000">
            <a:off x="12008687" y="3624582"/>
            <a:ext cx="4149072" cy="1518918"/>
            <a:chOff x="0" y="0"/>
            <a:chExt cx="4481681" cy="1640682"/>
          </a:xfrm>
        </p:grpSpPr>
        <p:sp>
          <p:nvSpPr>
            <p:cNvPr name="Freeform 22" id="22"/>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23" id="23"/>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4" id="24"/>
          <p:cNvGrpSpPr/>
          <p:nvPr/>
        </p:nvGrpSpPr>
        <p:grpSpPr>
          <a:xfrm rot="0">
            <a:off x="12008687" y="2392508"/>
            <a:ext cx="4149072" cy="2263271"/>
            <a:chOff x="0" y="0"/>
            <a:chExt cx="2084171" cy="1136891"/>
          </a:xfrm>
        </p:grpSpPr>
        <p:sp>
          <p:nvSpPr>
            <p:cNvPr name="Freeform 25" id="25"/>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4"/>
              <a:stretch>
                <a:fillRect l="0" t="-46025" r="0" b="-46025"/>
              </a:stretch>
            </a:blipFill>
          </p:spPr>
        </p:sp>
      </p:grpSp>
      <p:grpSp>
        <p:nvGrpSpPr>
          <p:cNvPr name="Group 26" id="26"/>
          <p:cNvGrpSpPr/>
          <p:nvPr/>
        </p:nvGrpSpPr>
        <p:grpSpPr>
          <a:xfrm rot="-10800000">
            <a:off x="2130241" y="6983668"/>
            <a:ext cx="4149072" cy="1518918"/>
            <a:chOff x="0" y="0"/>
            <a:chExt cx="4481681" cy="1640682"/>
          </a:xfrm>
        </p:grpSpPr>
        <p:sp>
          <p:nvSpPr>
            <p:cNvPr name="Freeform 27" id="27"/>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28" id="28"/>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2130241" y="5751594"/>
            <a:ext cx="4149072" cy="2263271"/>
            <a:chOff x="0" y="0"/>
            <a:chExt cx="2084171" cy="1136891"/>
          </a:xfrm>
        </p:grpSpPr>
        <p:sp>
          <p:nvSpPr>
            <p:cNvPr name="Freeform 30" id="30"/>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5"/>
              <a:stretch>
                <a:fillRect l="0" t="-5996" r="0" b="-5996"/>
              </a:stretch>
            </a:blipFill>
          </p:spPr>
        </p:sp>
      </p:grpSp>
      <p:grpSp>
        <p:nvGrpSpPr>
          <p:cNvPr name="Group 31" id="31"/>
          <p:cNvGrpSpPr/>
          <p:nvPr/>
        </p:nvGrpSpPr>
        <p:grpSpPr>
          <a:xfrm rot="-10800000">
            <a:off x="7069464" y="6983668"/>
            <a:ext cx="4149072" cy="1518918"/>
            <a:chOff x="0" y="0"/>
            <a:chExt cx="4481681" cy="1640682"/>
          </a:xfrm>
        </p:grpSpPr>
        <p:sp>
          <p:nvSpPr>
            <p:cNvPr name="Freeform 32" id="32"/>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33" id="33"/>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4" id="34"/>
          <p:cNvGrpSpPr/>
          <p:nvPr/>
        </p:nvGrpSpPr>
        <p:grpSpPr>
          <a:xfrm rot="0">
            <a:off x="7069464" y="5751594"/>
            <a:ext cx="4149072" cy="2263271"/>
            <a:chOff x="0" y="0"/>
            <a:chExt cx="2084171" cy="1136891"/>
          </a:xfrm>
        </p:grpSpPr>
        <p:sp>
          <p:nvSpPr>
            <p:cNvPr name="Freeform 35" id="35"/>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6"/>
              <a:stretch>
                <a:fillRect l="0" t="-36808" r="0" b="-36808"/>
              </a:stretch>
            </a:blipFill>
          </p:spPr>
        </p:sp>
      </p:grpSp>
      <p:grpSp>
        <p:nvGrpSpPr>
          <p:cNvPr name="Group 36" id="36"/>
          <p:cNvGrpSpPr/>
          <p:nvPr/>
        </p:nvGrpSpPr>
        <p:grpSpPr>
          <a:xfrm rot="-10800000">
            <a:off x="12008687" y="6983668"/>
            <a:ext cx="4149072" cy="1518918"/>
            <a:chOff x="0" y="0"/>
            <a:chExt cx="4481681" cy="1640682"/>
          </a:xfrm>
        </p:grpSpPr>
        <p:sp>
          <p:nvSpPr>
            <p:cNvPr name="Freeform 37" id="37"/>
            <p:cNvSpPr/>
            <p:nvPr/>
          </p:nvSpPr>
          <p:spPr>
            <a:xfrm flipH="false" flipV="false" rot="0">
              <a:off x="0" y="0"/>
              <a:ext cx="4481681" cy="1640682"/>
            </a:xfrm>
            <a:custGeom>
              <a:avLst/>
              <a:gdLst/>
              <a:ahLst/>
              <a:cxnLst/>
              <a:rect r="r" b="b" t="t" l="l"/>
              <a:pathLst>
                <a:path h="1640682" w="4481681">
                  <a:moveTo>
                    <a:pt x="4321661" y="0"/>
                  </a:moveTo>
                  <a:lnTo>
                    <a:pt x="160020" y="0"/>
                  </a:lnTo>
                  <a:lnTo>
                    <a:pt x="0" y="160020"/>
                  </a:lnTo>
                  <a:lnTo>
                    <a:pt x="0" y="1480662"/>
                  </a:lnTo>
                  <a:lnTo>
                    <a:pt x="160020" y="1640682"/>
                  </a:lnTo>
                  <a:lnTo>
                    <a:pt x="4321661" y="1640682"/>
                  </a:lnTo>
                  <a:lnTo>
                    <a:pt x="4481681" y="1480662"/>
                  </a:lnTo>
                  <a:lnTo>
                    <a:pt x="4481681" y="160020"/>
                  </a:lnTo>
                  <a:lnTo>
                    <a:pt x="4321661" y="0"/>
                  </a:lnTo>
                  <a:close/>
                </a:path>
              </a:pathLst>
            </a:custGeom>
            <a:solidFill>
              <a:srgbClr val="2F6BA6"/>
            </a:solidFill>
            <a:ln cap="sq">
              <a:noFill/>
              <a:prstDash val="solid"/>
              <a:miter/>
            </a:ln>
          </p:spPr>
        </p:sp>
        <p:sp>
          <p:nvSpPr>
            <p:cNvPr name="TextBox 38" id="38"/>
            <p:cNvSpPr txBox="true"/>
            <p:nvPr/>
          </p:nvSpPr>
          <p:spPr>
            <a:xfrm>
              <a:off x="63500" y="25400"/>
              <a:ext cx="4354681" cy="155178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9" id="39"/>
          <p:cNvGrpSpPr/>
          <p:nvPr/>
        </p:nvGrpSpPr>
        <p:grpSpPr>
          <a:xfrm rot="0">
            <a:off x="12008687" y="5751594"/>
            <a:ext cx="4149072" cy="2263271"/>
            <a:chOff x="0" y="0"/>
            <a:chExt cx="2084171" cy="1136891"/>
          </a:xfrm>
        </p:grpSpPr>
        <p:sp>
          <p:nvSpPr>
            <p:cNvPr name="Freeform 40" id="40"/>
            <p:cNvSpPr/>
            <p:nvPr/>
          </p:nvSpPr>
          <p:spPr>
            <a:xfrm flipH="false" flipV="false" rot="0">
              <a:off x="0" y="0"/>
              <a:ext cx="2084171" cy="1136891"/>
            </a:xfrm>
            <a:custGeom>
              <a:avLst/>
              <a:gdLst/>
              <a:ahLst/>
              <a:cxnLst/>
              <a:rect r="r" b="b" t="t" l="l"/>
              <a:pathLst>
                <a:path h="1136891" w="208417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790310" y="1136891"/>
                  </a:lnTo>
                  <a:cubicBezTo>
                    <a:pt x="1826219" y="1136891"/>
                    <a:pt x="1860374" y="1121372"/>
                    <a:pt x="1883994" y="1094326"/>
                  </a:cubicBezTo>
                  <a:lnTo>
                    <a:pt x="2043185" y="912044"/>
                  </a:lnTo>
                  <a:cubicBezTo>
                    <a:pt x="2069609" y="881787"/>
                    <a:pt x="2084170" y="842978"/>
                    <a:pt x="2084171" y="802806"/>
                  </a:cubicBezTo>
                  <a:lnTo>
                    <a:pt x="2084171" y="124380"/>
                  </a:lnTo>
                  <a:cubicBezTo>
                    <a:pt x="2084171" y="91391"/>
                    <a:pt x="2071066" y="59754"/>
                    <a:pt x="2047739" y="36428"/>
                  </a:cubicBezTo>
                  <a:cubicBezTo>
                    <a:pt x="2024412" y="13102"/>
                    <a:pt x="1992774" y="-1"/>
                    <a:pt x="1959786" y="0"/>
                  </a:cubicBezTo>
                  <a:lnTo>
                    <a:pt x="124380" y="0"/>
                  </a:lnTo>
                  <a:cubicBezTo>
                    <a:pt x="55687" y="0"/>
                    <a:pt x="0" y="55687"/>
                    <a:pt x="0" y="124380"/>
                  </a:cubicBezTo>
                  <a:close/>
                </a:path>
              </a:pathLst>
            </a:custGeom>
            <a:blipFill>
              <a:blip r:embed="rId7"/>
              <a:stretch>
                <a:fillRect l="-1906" t="0" r="-1906" b="0"/>
              </a:stretch>
            </a:blipFill>
          </p:spPr>
        </p:sp>
      </p:grpSp>
      <p:sp>
        <p:nvSpPr>
          <p:cNvPr name="TextBox 41" id="41"/>
          <p:cNvSpPr txBox="true"/>
          <p:nvPr/>
        </p:nvSpPr>
        <p:spPr>
          <a:xfrm rot="0">
            <a:off x="1028700" y="1104900"/>
            <a:ext cx="9762120" cy="987425"/>
          </a:xfrm>
          <a:prstGeom prst="rect">
            <a:avLst/>
          </a:prstGeom>
        </p:spPr>
        <p:txBody>
          <a:bodyPr anchor="t" rtlCol="false" tIns="0" lIns="0" bIns="0" rIns="0">
            <a:spAutoFit/>
          </a:bodyPr>
          <a:lstStyle/>
          <a:p>
            <a:pPr algn="l">
              <a:lnSpc>
                <a:spcPts val="6999"/>
              </a:lnSpc>
            </a:pPr>
            <a:r>
              <a:rPr lang="en-US" sz="6999" i="true" b="true">
                <a:solidFill>
                  <a:srgbClr val="2A2F3D"/>
                </a:solidFill>
                <a:latin typeface="Poppins Bold Italics"/>
                <a:ea typeface="Poppins Bold Italics"/>
                <a:cs typeface="Poppins Bold Italics"/>
                <a:sym typeface="Poppins Bold Italics"/>
              </a:rPr>
              <a:t>Table Of Contents</a:t>
            </a:r>
          </a:p>
        </p:txBody>
      </p:sp>
      <p:sp>
        <p:nvSpPr>
          <p:cNvPr name="TextBox 42" id="42"/>
          <p:cNvSpPr txBox="true"/>
          <p:nvPr/>
        </p:nvSpPr>
        <p:spPr>
          <a:xfrm rot="0">
            <a:off x="2523496" y="4227354"/>
            <a:ext cx="978743" cy="563840"/>
          </a:xfrm>
          <a:prstGeom prst="rect">
            <a:avLst/>
          </a:prstGeom>
        </p:spPr>
        <p:txBody>
          <a:bodyPr anchor="t" rtlCol="false" tIns="0" lIns="0" bIns="0" rIns="0">
            <a:spAutoFit/>
          </a:bodyPr>
          <a:lstStyle/>
          <a:p>
            <a:pPr algn="l">
              <a:lnSpc>
                <a:spcPts val="3961"/>
              </a:lnSpc>
            </a:pPr>
            <a:r>
              <a:rPr lang="en-US" b="true" sz="3961" i="true">
                <a:solidFill>
                  <a:srgbClr val="FFFFFF"/>
                </a:solidFill>
                <a:latin typeface="Poppins Bold Italics"/>
                <a:ea typeface="Poppins Bold Italics"/>
                <a:cs typeface="Poppins Bold Italics"/>
                <a:sym typeface="Poppins Bold Italics"/>
              </a:rPr>
              <a:t>1.</a:t>
            </a:r>
          </a:p>
        </p:txBody>
      </p:sp>
      <p:sp>
        <p:nvSpPr>
          <p:cNvPr name="TextBox 43" id="43"/>
          <p:cNvSpPr txBox="true"/>
          <p:nvPr/>
        </p:nvSpPr>
        <p:spPr>
          <a:xfrm rot="0">
            <a:off x="2373381" y="4791194"/>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Introduction</a:t>
            </a:r>
          </a:p>
        </p:txBody>
      </p:sp>
      <p:sp>
        <p:nvSpPr>
          <p:cNvPr name="TextBox 44" id="44"/>
          <p:cNvSpPr txBox="true"/>
          <p:nvPr/>
        </p:nvSpPr>
        <p:spPr>
          <a:xfrm rot="0">
            <a:off x="7462719" y="4227354"/>
            <a:ext cx="978743" cy="563840"/>
          </a:xfrm>
          <a:prstGeom prst="rect">
            <a:avLst/>
          </a:prstGeom>
        </p:spPr>
        <p:txBody>
          <a:bodyPr anchor="t" rtlCol="false" tIns="0" lIns="0" bIns="0" rIns="0">
            <a:spAutoFit/>
          </a:bodyPr>
          <a:lstStyle/>
          <a:p>
            <a:pPr algn="l">
              <a:lnSpc>
                <a:spcPts val="3961"/>
              </a:lnSpc>
            </a:pPr>
            <a:r>
              <a:rPr lang="en-US" sz="3961" i="true" b="true">
                <a:solidFill>
                  <a:srgbClr val="FFFFFF"/>
                </a:solidFill>
                <a:latin typeface="Poppins Bold Italics"/>
                <a:ea typeface="Poppins Bold Italics"/>
                <a:cs typeface="Poppins Bold Italics"/>
                <a:sym typeface="Poppins Bold Italics"/>
              </a:rPr>
              <a:t>2.</a:t>
            </a:r>
          </a:p>
        </p:txBody>
      </p:sp>
      <p:sp>
        <p:nvSpPr>
          <p:cNvPr name="TextBox 45" id="45"/>
          <p:cNvSpPr txBox="true"/>
          <p:nvPr/>
        </p:nvSpPr>
        <p:spPr>
          <a:xfrm rot="0">
            <a:off x="7312604" y="4791194"/>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Database Schema</a:t>
            </a:r>
          </a:p>
        </p:txBody>
      </p:sp>
      <p:sp>
        <p:nvSpPr>
          <p:cNvPr name="TextBox 46" id="46"/>
          <p:cNvSpPr txBox="true"/>
          <p:nvPr/>
        </p:nvSpPr>
        <p:spPr>
          <a:xfrm rot="0">
            <a:off x="12401943" y="4227354"/>
            <a:ext cx="978743" cy="563840"/>
          </a:xfrm>
          <a:prstGeom prst="rect">
            <a:avLst/>
          </a:prstGeom>
        </p:spPr>
        <p:txBody>
          <a:bodyPr anchor="t" rtlCol="false" tIns="0" lIns="0" bIns="0" rIns="0">
            <a:spAutoFit/>
          </a:bodyPr>
          <a:lstStyle/>
          <a:p>
            <a:pPr algn="l">
              <a:lnSpc>
                <a:spcPts val="3961"/>
              </a:lnSpc>
            </a:pPr>
            <a:r>
              <a:rPr lang="en-US" sz="3961" i="true" b="true">
                <a:solidFill>
                  <a:srgbClr val="FFFFFF"/>
                </a:solidFill>
                <a:latin typeface="Poppins Bold Italics"/>
                <a:ea typeface="Poppins Bold Italics"/>
                <a:cs typeface="Poppins Bold Italics"/>
                <a:sym typeface="Poppins Bold Italics"/>
              </a:rPr>
              <a:t>3.</a:t>
            </a:r>
          </a:p>
        </p:txBody>
      </p:sp>
      <p:sp>
        <p:nvSpPr>
          <p:cNvPr name="TextBox 47" id="47"/>
          <p:cNvSpPr txBox="true"/>
          <p:nvPr/>
        </p:nvSpPr>
        <p:spPr>
          <a:xfrm rot="0">
            <a:off x="12251827" y="4791194"/>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Physical Model</a:t>
            </a:r>
          </a:p>
        </p:txBody>
      </p:sp>
      <p:sp>
        <p:nvSpPr>
          <p:cNvPr name="TextBox 48" id="48"/>
          <p:cNvSpPr txBox="true"/>
          <p:nvPr/>
        </p:nvSpPr>
        <p:spPr>
          <a:xfrm rot="0">
            <a:off x="2523496" y="7586441"/>
            <a:ext cx="978743" cy="563840"/>
          </a:xfrm>
          <a:prstGeom prst="rect">
            <a:avLst/>
          </a:prstGeom>
        </p:spPr>
        <p:txBody>
          <a:bodyPr anchor="t" rtlCol="false" tIns="0" lIns="0" bIns="0" rIns="0">
            <a:spAutoFit/>
          </a:bodyPr>
          <a:lstStyle/>
          <a:p>
            <a:pPr algn="l">
              <a:lnSpc>
                <a:spcPts val="3961"/>
              </a:lnSpc>
            </a:pPr>
            <a:r>
              <a:rPr lang="en-US" sz="3961" i="true" b="true">
                <a:solidFill>
                  <a:srgbClr val="FFFFFF"/>
                </a:solidFill>
                <a:latin typeface="Poppins Bold Italics"/>
                <a:ea typeface="Poppins Bold Italics"/>
                <a:cs typeface="Poppins Bold Italics"/>
                <a:sym typeface="Poppins Bold Italics"/>
              </a:rPr>
              <a:t>4</a:t>
            </a:r>
            <a:r>
              <a:rPr lang="en-US" b="true" sz="3961" i="true">
                <a:solidFill>
                  <a:srgbClr val="FFFFFF"/>
                </a:solidFill>
                <a:latin typeface="Poppins Bold Italics"/>
                <a:ea typeface="Poppins Bold Italics"/>
                <a:cs typeface="Poppins Bold Italics"/>
                <a:sym typeface="Poppins Bold Italics"/>
              </a:rPr>
              <a:t>.</a:t>
            </a:r>
          </a:p>
        </p:txBody>
      </p:sp>
      <p:sp>
        <p:nvSpPr>
          <p:cNvPr name="TextBox 49" id="49"/>
          <p:cNvSpPr txBox="true"/>
          <p:nvPr/>
        </p:nvSpPr>
        <p:spPr>
          <a:xfrm rot="0">
            <a:off x="2373381" y="8150280"/>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ER Diagram</a:t>
            </a:r>
          </a:p>
        </p:txBody>
      </p:sp>
      <p:sp>
        <p:nvSpPr>
          <p:cNvPr name="TextBox 50" id="50"/>
          <p:cNvSpPr txBox="true"/>
          <p:nvPr/>
        </p:nvSpPr>
        <p:spPr>
          <a:xfrm rot="0">
            <a:off x="7462719" y="7586441"/>
            <a:ext cx="978743" cy="563840"/>
          </a:xfrm>
          <a:prstGeom prst="rect">
            <a:avLst/>
          </a:prstGeom>
        </p:spPr>
        <p:txBody>
          <a:bodyPr anchor="t" rtlCol="false" tIns="0" lIns="0" bIns="0" rIns="0">
            <a:spAutoFit/>
          </a:bodyPr>
          <a:lstStyle/>
          <a:p>
            <a:pPr algn="l">
              <a:lnSpc>
                <a:spcPts val="3961"/>
              </a:lnSpc>
            </a:pPr>
            <a:r>
              <a:rPr lang="en-US" sz="3961" i="true" b="true">
                <a:solidFill>
                  <a:srgbClr val="FFFFFF"/>
                </a:solidFill>
                <a:latin typeface="Poppins Bold Italics"/>
                <a:ea typeface="Poppins Bold Italics"/>
                <a:cs typeface="Poppins Bold Italics"/>
                <a:sym typeface="Poppins Bold Italics"/>
              </a:rPr>
              <a:t>5.</a:t>
            </a:r>
          </a:p>
        </p:txBody>
      </p:sp>
      <p:sp>
        <p:nvSpPr>
          <p:cNvPr name="TextBox 51" id="51"/>
          <p:cNvSpPr txBox="true"/>
          <p:nvPr/>
        </p:nvSpPr>
        <p:spPr>
          <a:xfrm rot="0">
            <a:off x="7312604" y="8150280"/>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Tables</a:t>
            </a:r>
          </a:p>
        </p:txBody>
      </p:sp>
      <p:sp>
        <p:nvSpPr>
          <p:cNvPr name="TextBox 52" id="52"/>
          <p:cNvSpPr txBox="true"/>
          <p:nvPr/>
        </p:nvSpPr>
        <p:spPr>
          <a:xfrm rot="0">
            <a:off x="12401943" y="7586441"/>
            <a:ext cx="978743" cy="563840"/>
          </a:xfrm>
          <a:prstGeom prst="rect">
            <a:avLst/>
          </a:prstGeom>
        </p:spPr>
        <p:txBody>
          <a:bodyPr anchor="t" rtlCol="false" tIns="0" lIns="0" bIns="0" rIns="0">
            <a:spAutoFit/>
          </a:bodyPr>
          <a:lstStyle/>
          <a:p>
            <a:pPr algn="l">
              <a:lnSpc>
                <a:spcPts val="3961"/>
              </a:lnSpc>
            </a:pPr>
            <a:r>
              <a:rPr lang="en-US" sz="3961" i="true" b="true">
                <a:solidFill>
                  <a:srgbClr val="FFFFFF"/>
                </a:solidFill>
                <a:latin typeface="Poppins Bold Italics"/>
                <a:ea typeface="Poppins Bold Italics"/>
                <a:cs typeface="Poppins Bold Italics"/>
                <a:sym typeface="Poppins Bold Italics"/>
              </a:rPr>
              <a:t>6.</a:t>
            </a:r>
          </a:p>
        </p:txBody>
      </p:sp>
      <p:sp>
        <p:nvSpPr>
          <p:cNvPr name="TextBox 53" id="53"/>
          <p:cNvSpPr txBox="true"/>
          <p:nvPr/>
        </p:nvSpPr>
        <p:spPr>
          <a:xfrm rot="0">
            <a:off x="12251827" y="8150280"/>
            <a:ext cx="3662792" cy="260684"/>
          </a:xfrm>
          <a:prstGeom prst="rect">
            <a:avLst/>
          </a:prstGeom>
        </p:spPr>
        <p:txBody>
          <a:bodyPr anchor="t" rtlCol="false" tIns="0" lIns="0" bIns="0" rIns="0">
            <a:spAutoFit/>
          </a:bodyPr>
          <a:lstStyle/>
          <a:p>
            <a:pPr algn="ctr" marL="0" indent="0" lvl="0">
              <a:lnSpc>
                <a:spcPts val="1901"/>
              </a:lnSpc>
              <a:spcBef>
                <a:spcPct val="0"/>
              </a:spcBef>
            </a:pPr>
            <a:r>
              <a:rPr lang="en-US" b="true" sz="1728" i="true">
                <a:solidFill>
                  <a:srgbClr val="FFFFFF"/>
                </a:solidFill>
                <a:latin typeface="Poppins Bold Italics"/>
                <a:ea typeface="Poppins Bold Italics"/>
                <a:cs typeface="Poppins Bold Italics"/>
                <a:sym typeface="Poppins Bold Italics"/>
              </a:rPr>
              <a:t>Queries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934472" y="7456677"/>
            <a:ext cx="4456375" cy="4456375"/>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11232336" y="-1572661"/>
            <a:ext cx="7626561" cy="7626561"/>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1028700" y="1104900"/>
            <a:ext cx="9762120" cy="987425"/>
          </a:xfrm>
          <a:prstGeom prst="rect">
            <a:avLst/>
          </a:prstGeom>
        </p:spPr>
        <p:txBody>
          <a:bodyPr anchor="t" rtlCol="false" tIns="0" lIns="0" bIns="0" rIns="0">
            <a:spAutoFit/>
          </a:bodyPr>
          <a:lstStyle/>
          <a:p>
            <a:pPr algn="l">
              <a:lnSpc>
                <a:spcPts val="6999"/>
              </a:lnSpc>
            </a:pPr>
            <a:r>
              <a:rPr lang="en-US" sz="6999" i="true" b="true">
                <a:solidFill>
                  <a:srgbClr val="2A2F3D"/>
                </a:solidFill>
                <a:latin typeface="Poppins Bold Italics"/>
                <a:ea typeface="Poppins Bold Italics"/>
                <a:cs typeface="Poppins Bold Italics"/>
                <a:sym typeface="Poppins Bold Italics"/>
              </a:rPr>
              <a:t>1: Introduction</a:t>
            </a:r>
          </a:p>
        </p:txBody>
      </p:sp>
      <p:sp>
        <p:nvSpPr>
          <p:cNvPr name="TextBox 12" id="12"/>
          <p:cNvSpPr txBox="true"/>
          <p:nvPr/>
        </p:nvSpPr>
        <p:spPr>
          <a:xfrm rot="0">
            <a:off x="1028700" y="3049832"/>
            <a:ext cx="15951056" cy="385445"/>
          </a:xfrm>
          <a:prstGeom prst="rect">
            <a:avLst/>
          </a:prstGeom>
        </p:spPr>
        <p:txBody>
          <a:bodyPr anchor="t" rtlCol="false" tIns="0" lIns="0" bIns="0" rIns="0">
            <a:spAutoFit/>
          </a:bodyPr>
          <a:lstStyle/>
          <a:p>
            <a:pPr algn="l" marL="0" indent="0" lvl="0">
              <a:lnSpc>
                <a:spcPts val="2859"/>
              </a:lnSpc>
              <a:spcBef>
                <a:spcPct val="0"/>
              </a:spcBef>
            </a:pPr>
            <a:r>
              <a:rPr lang="en-US" b="true" sz="2599" spc="-51">
                <a:solidFill>
                  <a:srgbClr val="2A2F3D"/>
                </a:solidFill>
                <a:latin typeface="Poppins Bold"/>
                <a:ea typeface="Poppins Bold"/>
                <a:cs typeface="Poppins Bold"/>
                <a:sym typeface="Poppins Bold"/>
              </a:rPr>
              <a:t>Does Education Effect Climate Change? Industry? Energy Production?</a:t>
            </a:r>
          </a:p>
        </p:txBody>
      </p:sp>
      <p:sp>
        <p:nvSpPr>
          <p:cNvPr name="TextBox 13" id="13"/>
          <p:cNvSpPr txBox="true"/>
          <p:nvPr/>
        </p:nvSpPr>
        <p:spPr>
          <a:xfrm rot="0">
            <a:off x="1028700" y="4397302"/>
            <a:ext cx="13016511" cy="2557145"/>
          </a:xfrm>
          <a:prstGeom prst="rect">
            <a:avLst/>
          </a:prstGeom>
        </p:spPr>
        <p:txBody>
          <a:bodyPr anchor="t" rtlCol="false" tIns="0" lIns="0" bIns="0" rIns="0">
            <a:spAutoFit/>
          </a:bodyPr>
          <a:lstStyle/>
          <a:p>
            <a:pPr algn="l">
              <a:lnSpc>
                <a:spcPts val="2860"/>
              </a:lnSpc>
            </a:pPr>
            <a:r>
              <a:rPr lang="en-US" sz="2600" spc="-52">
                <a:solidFill>
                  <a:srgbClr val="2A2F3D"/>
                </a:solidFill>
                <a:latin typeface="Poppins"/>
                <a:ea typeface="Poppins"/>
                <a:cs typeface="Poppins"/>
                <a:sym typeface="Poppins"/>
              </a:rPr>
              <a:t>In this project, we primarily focused on MySQL, database design, and database management. However, we also heavily focused on how data on education, climate, and the energy industry interact. </a:t>
            </a:r>
          </a:p>
          <a:p>
            <a:pPr algn="l">
              <a:lnSpc>
                <a:spcPts val="2860"/>
              </a:lnSpc>
            </a:pPr>
          </a:p>
          <a:p>
            <a:pPr algn="l" marL="0" indent="0" lvl="0">
              <a:lnSpc>
                <a:spcPts val="2860"/>
              </a:lnSpc>
              <a:spcBef>
                <a:spcPct val="0"/>
              </a:spcBef>
            </a:pPr>
            <a:r>
              <a:rPr lang="en-US" sz="2600" spc="-52">
                <a:solidFill>
                  <a:srgbClr val="2A2F3D"/>
                </a:solidFill>
                <a:latin typeface="Poppins"/>
                <a:ea typeface="Poppins"/>
                <a:cs typeface="Poppins"/>
                <a:sym typeface="Poppins"/>
              </a:rPr>
              <a:t>In this presentation, we will go over our database design, how we used it to answer our own questions, and key takeaways that we hope will provide some insights into both database design and the countries’ data we wanted to explore.</a:t>
            </a:r>
          </a:p>
        </p:txBody>
      </p:sp>
      <p:sp>
        <p:nvSpPr>
          <p:cNvPr name="TextBox 14" id="14"/>
          <p:cNvSpPr txBox="true"/>
          <p:nvPr/>
        </p:nvSpPr>
        <p:spPr>
          <a:xfrm rot="0">
            <a:off x="1028700" y="3723567"/>
            <a:ext cx="15951056" cy="385445"/>
          </a:xfrm>
          <a:prstGeom prst="rect">
            <a:avLst/>
          </a:prstGeom>
        </p:spPr>
        <p:txBody>
          <a:bodyPr anchor="t" rtlCol="false" tIns="0" lIns="0" bIns="0" rIns="0">
            <a:spAutoFit/>
          </a:bodyPr>
          <a:lstStyle/>
          <a:p>
            <a:pPr algn="l" marL="0" indent="0" lvl="0">
              <a:lnSpc>
                <a:spcPts val="2859"/>
              </a:lnSpc>
              <a:spcBef>
                <a:spcPct val="0"/>
              </a:spcBef>
            </a:pPr>
            <a:r>
              <a:rPr lang="en-US" b="true" sz="2599" spc="-51">
                <a:solidFill>
                  <a:srgbClr val="2A2F3D"/>
                </a:solidFill>
                <a:latin typeface="Poppins Bold"/>
                <a:ea typeface="Poppins Bold"/>
                <a:cs typeface="Poppins Bold"/>
                <a:sym typeface="Poppins Bold"/>
              </a:rPr>
              <a:t>How Can We Use  A Database To See Possible Correlations; Organize Large Amounts Of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5478402" y="2521946"/>
            <a:ext cx="11948825" cy="6422348"/>
          </a:xfrm>
          <a:custGeom>
            <a:avLst/>
            <a:gdLst/>
            <a:ahLst/>
            <a:cxnLst/>
            <a:rect r="r" b="b" t="t" l="l"/>
            <a:pathLst>
              <a:path h="6422348" w="11948825">
                <a:moveTo>
                  <a:pt x="0" y="0"/>
                </a:moveTo>
                <a:lnTo>
                  <a:pt x="11948825" y="0"/>
                </a:lnTo>
                <a:lnTo>
                  <a:pt x="11948825" y="6422348"/>
                </a:lnTo>
                <a:lnTo>
                  <a:pt x="0" y="6422348"/>
                </a:lnTo>
                <a:lnTo>
                  <a:pt x="0" y="0"/>
                </a:lnTo>
                <a:close/>
              </a:path>
            </a:pathLst>
          </a:custGeom>
          <a:blipFill>
            <a:blip r:embed="rId2"/>
            <a:stretch>
              <a:fillRect l="0" t="0" r="0" b="0"/>
            </a:stretch>
          </a:blipFill>
        </p:spPr>
      </p:sp>
      <p:sp>
        <p:nvSpPr>
          <p:cNvPr name="TextBox 12" id="12"/>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2: Database Schema</a:t>
            </a:r>
          </a:p>
        </p:txBody>
      </p:sp>
      <p:sp>
        <p:nvSpPr>
          <p:cNvPr name="TextBox 13" id="13"/>
          <p:cNvSpPr txBox="true"/>
          <p:nvPr/>
        </p:nvSpPr>
        <p:spPr>
          <a:xfrm rot="0">
            <a:off x="1028700" y="2823550"/>
            <a:ext cx="4449702" cy="5819140"/>
          </a:xfrm>
          <a:prstGeom prst="rect">
            <a:avLst/>
          </a:prstGeom>
        </p:spPr>
        <p:txBody>
          <a:bodyPr anchor="t" rtlCol="false" tIns="0" lIns="0" bIns="0" rIns="0">
            <a:spAutoFit/>
          </a:bodyPr>
          <a:lstStyle/>
          <a:p>
            <a:pPr algn="l">
              <a:lnSpc>
                <a:spcPts val="2420"/>
              </a:lnSpc>
            </a:pPr>
            <a:r>
              <a:rPr lang="en-US" b="true" sz="2200" i="true" spc="-44">
                <a:solidFill>
                  <a:srgbClr val="2A2F3D"/>
                </a:solidFill>
                <a:latin typeface="Poppins Bold Italics"/>
                <a:ea typeface="Poppins Bold Italics"/>
                <a:cs typeface="Poppins Bold Italics"/>
                <a:sym typeface="Poppins Bold Italics"/>
              </a:rPr>
              <a:t>The tables on the right show the database schema we will use for this project. Each table has its own attributes along with the identifying PK (Primary Key) and FK (Foreign Key).</a:t>
            </a:r>
          </a:p>
          <a:p>
            <a:pPr algn="l">
              <a:lnSpc>
                <a:spcPts val="2420"/>
              </a:lnSpc>
            </a:pPr>
          </a:p>
          <a:p>
            <a:pPr algn="l" marL="0" indent="0" lvl="0">
              <a:lnSpc>
                <a:spcPts val="2420"/>
              </a:lnSpc>
              <a:spcBef>
                <a:spcPct val="0"/>
              </a:spcBef>
            </a:pPr>
            <a:r>
              <a:rPr lang="en-US" b="true" sz="2200" i="true" spc="-44">
                <a:solidFill>
                  <a:srgbClr val="2A2F3D"/>
                </a:solidFill>
                <a:latin typeface="Poppins Bold Italics"/>
                <a:ea typeface="Poppins Bold Italics"/>
                <a:cs typeface="Poppins Bold Italics"/>
                <a:sym typeface="Poppins Bold Italics"/>
              </a:rPr>
              <a:t>The Country, City, and CountryLanguage tables are all from the base schema provided. Education_Indicators, Energy_Production, and Climate_Data are newly added tables that describe the relationships among education, energy, and climate, year by year and country by country.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C778"/>
        </a:solidFill>
      </p:bgPr>
    </p:bg>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5400000">
            <a:off x="-934472" y="6910169"/>
            <a:ext cx="5002882" cy="5002882"/>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14166741" y="-292853"/>
            <a:ext cx="6193318" cy="6193318"/>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2170232" y="2324153"/>
            <a:ext cx="6833996" cy="7152623"/>
          </a:xfrm>
          <a:custGeom>
            <a:avLst/>
            <a:gdLst/>
            <a:ahLst/>
            <a:cxnLst/>
            <a:rect r="r" b="b" t="t" l="l"/>
            <a:pathLst>
              <a:path h="7152623" w="6833996">
                <a:moveTo>
                  <a:pt x="0" y="0"/>
                </a:moveTo>
                <a:lnTo>
                  <a:pt x="6833996" y="0"/>
                </a:lnTo>
                <a:lnTo>
                  <a:pt x="6833996" y="7152623"/>
                </a:lnTo>
                <a:lnTo>
                  <a:pt x="0" y="7152623"/>
                </a:lnTo>
                <a:lnTo>
                  <a:pt x="0" y="0"/>
                </a:lnTo>
                <a:close/>
              </a:path>
            </a:pathLst>
          </a:custGeom>
          <a:blipFill>
            <a:blip r:embed="rId2"/>
            <a:stretch>
              <a:fillRect l="0" t="0" r="0" b="0"/>
            </a:stretch>
          </a:blipFill>
        </p:spPr>
      </p:sp>
      <p:sp>
        <p:nvSpPr>
          <p:cNvPr name="TextBox 12" id="12"/>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3: Physical Model</a:t>
            </a:r>
          </a:p>
        </p:txBody>
      </p:sp>
      <p:sp>
        <p:nvSpPr>
          <p:cNvPr name="TextBox 13" id="13"/>
          <p:cNvSpPr txBox="true"/>
          <p:nvPr/>
        </p:nvSpPr>
        <p:spPr>
          <a:xfrm rot="0">
            <a:off x="10592335" y="3508471"/>
            <a:ext cx="5677992" cy="5091829"/>
          </a:xfrm>
          <a:prstGeom prst="rect">
            <a:avLst/>
          </a:prstGeom>
        </p:spPr>
        <p:txBody>
          <a:bodyPr anchor="t" rtlCol="false" tIns="0" lIns="0" bIns="0" rIns="0">
            <a:spAutoFit/>
          </a:bodyPr>
          <a:lstStyle/>
          <a:p>
            <a:pPr algn="l">
              <a:lnSpc>
                <a:spcPts val="3088"/>
              </a:lnSpc>
            </a:pPr>
            <a:r>
              <a:rPr lang="en-US" b="true" sz="2807" i="true" spc="-56">
                <a:solidFill>
                  <a:srgbClr val="2A2F3D"/>
                </a:solidFill>
                <a:latin typeface="Poppins Bold Italics"/>
                <a:ea typeface="Poppins Bold Italics"/>
                <a:cs typeface="Poppins Bold Italics"/>
                <a:sym typeface="Poppins Bold Italics"/>
              </a:rPr>
              <a:t>On the left, we have the physical model of our database. As you can see, the prior country, countryLanguage, and city from our base schema are now interconnected with our additional tables.</a:t>
            </a:r>
          </a:p>
          <a:p>
            <a:pPr algn="l">
              <a:lnSpc>
                <a:spcPts val="3088"/>
              </a:lnSpc>
            </a:pPr>
          </a:p>
          <a:p>
            <a:pPr algn="l" marL="0" indent="0" lvl="0">
              <a:lnSpc>
                <a:spcPts val="3088"/>
              </a:lnSpc>
              <a:spcBef>
                <a:spcPct val="0"/>
              </a:spcBef>
            </a:pPr>
            <a:r>
              <a:rPr lang="en-US" b="true" sz="2807" i="true" spc="-56">
                <a:solidFill>
                  <a:srgbClr val="2A2F3D"/>
                </a:solidFill>
                <a:latin typeface="Poppins Bold Italics"/>
                <a:ea typeface="Poppins Bold Italics"/>
                <a:cs typeface="Poppins Bold Italics"/>
                <a:sym typeface="Poppins Bold Italics"/>
              </a:rPr>
              <a:t>You can also see how primary keys and foreign keys relate to other in a more clear and concrete way.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CE0ED"/>
        </a:solidFill>
      </p:bgPr>
    </p:bg>
    <p:spTree>
      <p:nvGrpSpPr>
        <p:cNvPr id="1" name=""/>
        <p:cNvGrpSpPr/>
        <p:nvPr/>
      </p:nvGrpSpPr>
      <p:grpSpPr>
        <a:xfrm>
          <a:off x="0" y="0"/>
          <a:ext cx="0" cy="0"/>
          <a:chOff x="0" y="0"/>
          <a:chExt cx="0" cy="0"/>
        </a:xfrm>
      </p:grpSpPr>
      <p:grpSp>
        <p:nvGrpSpPr>
          <p:cNvPr name="Group 2" id="2"/>
          <p:cNvGrpSpPr/>
          <p:nvPr/>
        </p:nvGrpSpPr>
        <p:grpSpPr>
          <a:xfrm rot="0">
            <a:off x="487959" y="875983"/>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800000">
            <a:off x="-386260" y="-365965"/>
            <a:ext cx="3510491" cy="3617546"/>
            <a:chOff x="0" y="0"/>
            <a:chExt cx="558800" cy="575841"/>
          </a:xfrm>
        </p:grpSpPr>
        <p:sp>
          <p:nvSpPr>
            <p:cNvPr name="Freeform 6" id="6"/>
            <p:cNvSpPr/>
            <p:nvPr/>
          </p:nvSpPr>
          <p:spPr>
            <a:xfrm flipH="false" flipV="false" rot="0">
              <a:off x="0" y="0"/>
              <a:ext cx="558800" cy="575841"/>
            </a:xfrm>
            <a:custGeom>
              <a:avLst/>
              <a:gdLst/>
              <a:ahLst/>
              <a:cxnLst/>
              <a:rect r="r" b="b" t="t" l="l"/>
              <a:pathLst>
                <a:path h="575841" w="558800">
                  <a:moveTo>
                    <a:pt x="0" y="575841"/>
                  </a:moveTo>
                  <a:cubicBezTo>
                    <a:pt x="0" y="424187"/>
                    <a:pt x="59606" y="275896"/>
                    <a:pt x="163669" y="168660"/>
                  </a:cubicBezTo>
                  <a:cubicBezTo>
                    <a:pt x="267731" y="61424"/>
                    <a:pt x="411634" y="0"/>
                    <a:pt x="558800" y="0"/>
                  </a:cubicBezTo>
                  <a:lnTo>
                    <a:pt x="558800" y="575841"/>
                  </a:lnTo>
                  <a:lnTo>
                    <a:pt x="0" y="575841"/>
                  </a:lnTo>
                  <a:close/>
                </a:path>
              </a:pathLst>
            </a:custGeom>
            <a:solidFill>
              <a:srgbClr val="FFC778"/>
            </a:solidFill>
            <a:ln cap="sq">
              <a:noFill/>
              <a:prstDash val="solid"/>
              <a:miter/>
            </a:ln>
          </p:spPr>
        </p:sp>
        <p:sp>
          <p:nvSpPr>
            <p:cNvPr name="TextBox 7" id="7"/>
            <p:cNvSpPr txBox="true"/>
            <p:nvPr/>
          </p:nvSpPr>
          <p:spPr>
            <a:xfrm>
              <a:off x="165100" y="132035"/>
              <a:ext cx="393700" cy="4438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3673139" y="5637677"/>
            <a:ext cx="5017957" cy="5017957"/>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768940" y="2232233"/>
            <a:ext cx="12495044" cy="7528264"/>
          </a:xfrm>
          <a:custGeom>
            <a:avLst/>
            <a:gdLst/>
            <a:ahLst/>
            <a:cxnLst/>
            <a:rect r="r" b="b" t="t" l="l"/>
            <a:pathLst>
              <a:path h="7528264" w="12495044">
                <a:moveTo>
                  <a:pt x="0" y="0"/>
                </a:moveTo>
                <a:lnTo>
                  <a:pt x="12495044" y="0"/>
                </a:lnTo>
                <a:lnTo>
                  <a:pt x="12495044" y="7528263"/>
                </a:lnTo>
                <a:lnTo>
                  <a:pt x="0" y="7528263"/>
                </a:lnTo>
                <a:lnTo>
                  <a:pt x="0" y="0"/>
                </a:lnTo>
                <a:close/>
              </a:path>
            </a:pathLst>
          </a:custGeom>
          <a:blipFill>
            <a:blip r:embed="rId2"/>
            <a:stretch>
              <a:fillRect l="0" t="0" r="0" b="0"/>
            </a:stretch>
          </a:blipFill>
        </p:spPr>
      </p:sp>
      <p:sp>
        <p:nvSpPr>
          <p:cNvPr name="TextBox 12" id="12"/>
          <p:cNvSpPr txBox="true"/>
          <p:nvPr/>
        </p:nvSpPr>
        <p:spPr>
          <a:xfrm rot="0">
            <a:off x="4262940"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4: ER Diagram</a:t>
            </a:r>
          </a:p>
        </p:txBody>
      </p:sp>
      <p:sp>
        <p:nvSpPr>
          <p:cNvPr name="TextBox 13" id="13"/>
          <p:cNvSpPr txBox="true"/>
          <p:nvPr/>
        </p:nvSpPr>
        <p:spPr>
          <a:xfrm rot="0">
            <a:off x="13552481" y="2067560"/>
            <a:ext cx="3706819" cy="7038340"/>
          </a:xfrm>
          <a:prstGeom prst="rect">
            <a:avLst/>
          </a:prstGeom>
        </p:spPr>
        <p:txBody>
          <a:bodyPr anchor="t" rtlCol="false" tIns="0" lIns="0" bIns="0" rIns="0">
            <a:spAutoFit/>
          </a:bodyPr>
          <a:lstStyle/>
          <a:p>
            <a:pPr algn="l">
              <a:lnSpc>
                <a:spcPts val="2420"/>
              </a:lnSpc>
            </a:pPr>
          </a:p>
          <a:p>
            <a:pPr algn="l">
              <a:lnSpc>
                <a:spcPts val="2420"/>
              </a:lnSpc>
            </a:pPr>
            <a:r>
              <a:rPr lang="en-US" sz="2200" spc="-44">
                <a:solidFill>
                  <a:srgbClr val="2A2F3D"/>
                </a:solidFill>
                <a:latin typeface="Poppins"/>
                <a:ea typeface="Poppins"/>
                <a:cs typeface="Poppins"/>
                <a:sym typeface="Poppins"/>
              </a:rPr>
              <a:t>Moving to the ER-Diagram, we can see how the cardinality and relationship between the entities. </a:t>
            </a:r>
          </a:p>
          <a:p>
            <a:pPr algn="l">
              <a:lnSpc>
                <a:spcPts val="2420"/>
              </a:lnSpc>
            </a:pPr>
          </a:p>
          <a:p>
            <a:pPr algn="l">
              <a:lnSpc>
                <a:spcPts val="2420"/>
              </a:lnSpc>
            </a:pPr>
            <a:r>
              <a:rPr lang="en-US" sz="2200" spc="-44">
                <a:solidFill>
                  <a:srgbClr val="2A2F3D"/>
                </a:solidFill>
                <a:latin typeface="Poppins"/>
                <a:ea typeface="Poppins"/>
                <a:cs typeface="Poppins"/>
                <a:sym typeface="Poppins"/>
              </a:rPr>
              <a:t>Our primary entity is the country entity, which associates all our other sub-entities. We can also see how some entities are weak and need the parent entity to help determine specification. </a:t>
            </a:r>
          </a:p>
          <a:p>
            <a:pPr algn="l">
              <a:lnSpc>
                <a:spcPts val="2420"/>
              </a:lnSpc>
            </a:pPr>
          </a:p>
          <a:p>
            <a:pPr algn="l" marL="0" indent="0" lvl="0">
              <a:lnSpc>
                <a:spcPts val="2420"/>
              </a:lnSpc>
              <a:spcBef>
                <a:spcPct val="0"/>
              </a:spcBef>
            </a:pPr>
            <a:r>
              <a:rPr lang="en-US" sz="2200" spc="-44">
                <a:solidFill>
                  <a:srgbClr val="2A2F3D"/>
                </a:solidFill>
                <a:latin typeface="Poppins"/>
                <a:ea typeface="Poppins"/>
                <a:cs typeface="Poppins"/>
                <a:sym typeface="Poppins"/>
              </a:rPr>
              <a:t>In our design, we chose the new tables to be one-to-many, as we wanted scalability and further variety we wanted to analyze. Just not the current data for each entity.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070458" y="7034995"/>
            <a:ext cx="3620639" cy="3620639"/>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519132"/>
            <a:chOff x="0" y="0"/>
            <a:chExt cx="558800" cy="575841"/>
          </a:xfrm>
        </p:grpSpPr>
        <p:sp>
          <p:nvSpPr>
            <p:cNvPr name="Freeform 9" id="9"/>
            <p:cNvSpPr/>
            <p:nvPr/>
          </p:nvSpPr>
          <p:spPr>
            <a:xfrm flipH="false" flipV="false" rot="0">
              <a:off x="0" y="0"/>
              <a:ext cx="558800" cy="575841"/>
            </a:xfrm>
            <a:custGeom>
              <a:avLst/>
              <a:gdLst/>
              <a:ahLst/>
              <a:cxnLst/>
              <a:rect r="r" b="b" t="t" l="l"/>
              <a:pathLst>
                <a:path h="575841" w="558800">
                  <a:moveTo>
                    <a:pt x="0" y="575841"/>
                  </a:moveTo>
                  <a:cubicBezTo>
                    <a:pt x="0" y="424187"/>
                    <a:pt x="59606" y="275896"/>
                    <a:pt x="163669" y="168660"/>
                  </a:cubicBezTo>
                  <a:cubicBezTo>
                    <a:pt x="267731" y="61424"/>
                    <a:pt x="411634" y="0"/>
                    <a:pt x="558800" y="0"/>
                  </a:cubicBezTo>
                  <a:lnTo>
                    <a:pt x="558800" y="575841"/>
                  </a:lnTo>
                  <a:lnTo>
                    <a:pt x="0" y="575841"/>
                  </a:lnTo>
                  <a:close/>
                </a:path>
              </a:pathLst>
            </a:custGeom>
            <a:solidFill>
              <a:srgbClr val="FFC778"/>
            </a:solidFill>
            <a:ln cap="sq">
              <a:noFill/>
              <a:prstDash val="solid"/>
              <a:miter/>
            </a:ln>
          </p:spPr>
        </p:sp>
        <p:sp>
          <p:nvSpPr>
            <p:cNvPr name="TextBox 10" id="10"/>
            <p:cNvSpPr txBox="true"/>
            <p:nvPr/>
          </p:nvSpPr>
          <p:spPr>
            <a:xfrm>
              <a:off x="165100" y="132035"/>
              <a:ext cx="393700" cy="4438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913717" y="3166813"/>
            <a:ext cx="4332422" cy="986354"/>
            <a:chOff x="0" y="0"/>
            <a:chExt cx="420605" cy="95758"/>
          </a:xfrm>
        </p:grpSpPr>
        <p:sp>
          <p:nvSpPr>
            <p:cNvPr name="Freeform 12" id="12"/>
            <p:cNvSpPr/>
            <p:nvPr/>
          </p:nvSpPr>
          <p:spPr>
            <a:xfrm flipH="false" flipV="false" rot="0">
              <a:off x="0" y="0"/>
              <a:ext cx="420605" cy="95758"/>
            </a:xfrm>
            <a:custGeom>
              <a:avLst/>
              <a:gdLst/>
              <a:ahLst/>
              <a:cxnLst/>
              <a:rect r="r" b="b" t="t" l="l"/>
              <a:pathLst>
                <a:path h="95758" w="420605">
                  <a:moveTo>
                    <a:pt x="41100" y="0"/>
                  </a:moveTo>
                  <a:lnTo>
                    <a:pt x="379504" y="0"/>
                  </a:lnTo>
                  <a:cubicBezTo>
                    <a:pt x="390405" y="0"/>
                    <a:pt x="400859" y="4330"/>
                    <a:pt x="408567" y="12038"/>
                  </a:cubicBezTo>
                  <a:cubicBezTo>
                    <a:pt x="416275" y="19746"/>
                    <a:pt x="420605" y="30200"/>
                    <a:pt x="420605" y="41100"/>
                  </a:cubicBezTo>
                  <a:lnTo>
                    <a:pt x="420605" y="54658"/>
                  </a:lnTo>
                  <a:cubicBezTo>
                    <a:pt x="420605" y="77357"/>
                    <a:pt x="402203" y="95758"/>
                    <a:pt x="379504" y="95758"/>
                  </a:cubicBezTo>
                  <a:lnTo>
                    <a:pt x="41100" y="95758"/>
                  </a:lnTo>
                  <a:cubicBezTo>
                    <a:pt x="18401" y="95758"/>
                    <a:pt x="0" y="77357"/>
                    <a:pt x="0" y="54658"/>
                  </a:cubicBezTo>
                  <a:lnTo>
                    <a:pt x="0" y="41100"/>
                  </a:lnTo>
                  <a:cubicBezTo>
                    <a:pt x="0" y="18401"/>
                    <a:pt x="18401" y="0"/>
                    <a:pt x="41100" y="0"/>
                  </a:cubicBezTo>
                  <a:close/>
                </a:path>
              </a:pathLst>
            </a:custGeom>
            <a:solidFill>
              <a:srgbClr val="2F6BA6"/>
            </a:solidFill>
            <a:ln cap="rnd">
              <a:noFill/>
              <a:prstDash val="solid"/>
              <a:round/>
            </a:ln>
          </p:spPr>
        </p:sp>
        <p:sp>
          <p:nvSpPr>
            <p:cNvPr name="TextBox 13" id="13"/>
            <p:cNvSpPr txBox="true"/>
            <p:nvPr/>
          </p:nvSpPr>
          <p:spPr>
            <a:xfrm>
              <a:off x="0" y="-28575"/>
              <a:ext cx="420605" cy="124333"/>
            </a:xfrm>
            <a:prstGeom prst="rect">
              <a:avLst/>
            </a:prstGeom>
          </p:spPr>
          <p:txBody>
            <a:bodyPr anchor="ctr" rtlCol="false" tIns="50800" lIns="50800" bIns="50800" rIns="50800"/>
            <a:lstStyle/>
            <a:p>
              <a:pPr algn="ctr">
                <a:lnSpc>
                  <a:spcPts val="1679"/>
                </a:lnSpc>
              </a:pPr>
            </a:p>
          </p:txBody>
        </p:sp>
      </p:grpSp>
      <p:grpSp>
        <p:nvGrpSpPr>
          <p:cNvPr name="Group 14" id="14"/>
          <p:cNvGrpSpPr/>
          <p:nvPr/>
        </p:nvGrpSpPr>
        <p:grpSpPr>
          <a:xfrm rot="0">
            <a:off x="6977789" y="3166813"/>
            <a:ext cx="4332422" cy="986354"/>
            <a:chOff x="0" y="0"/>
            <a:chExt cx="420605" cy="95758"/>
          </a:xfrm>
        </p:grpSpPr>
        <p:sp>
          <p:nvSpPr>
            <p:cNvPr name="Freeform 15" id="15"/>
            <p:cNvSpPr/>
            <p:nvPr/>
          </p:nvSpPr>
          <p:spPr>
            <a:xfrm flipH="false" flipV="false" rot="0">
              <a:off x="0" y="0"/>
              <a:ext cx="420605" cy="95758"/>
            </a:xfrm>
            <a:custGeom>
              <a:avLst/>
              <a:gdLst/>
              <a:ahLst/>
              <a:cxnLst/>
              <a:rect r="r" b="b" t="t" l="l"/>
              <a:pathLst>
                <a:path h="95758" w="420605">
                  <a:moveTo>
                    <a:pt x="41100" y="0"/>
                  </a:moveTo>
                  <a:lnTo>
                    <a:pt x="379504" y="0"/>
                  </a:lnTo>
                  <a:cubicBezTo>
                    <a:pt x="390405" y="0"/>
                    <a:pt x="400859" y="4330"/>
                    <a:pt x="408567" y="12038"/>
                  </a:cubicBezTo>
                  <a:cubicBezTo>
                    <a:pt x="416275" y="19746"/>
                    <a:pt x="420605" y="30200"/>
                    <a:pt x="420605" y="41100"/>
                  </a:cubicBezTo>
                  <a:lnTo>
                    <a:pt x="420605" y="54658"/>
                  </a:lnTo>
                  <a:cubicBezTo>
                    <a:pt x="420605" y="77357"/>
                    <a:pt x="402203" y="95758"/>
                    <a:pt x="379504" y="95758"/>
                  </a:cubicBezTo>
                  <a:lnTo>
                    <a:pt x="41100" y="95758"/>
                  </a:lnTo>
                  <a:cubicBezTo>
                    <a:pt x="18401" y="95758"/>
                    <a:pt x="0" y="77357"/>
                    <a:pt x="0" y="54658"/>
                  </a:cubicBezTo>
                  <a:lnTo>
                    <a:pt x="0" y="41100"/>
                  </a:lnTo>
                  <a:cubicBezTo>
                    <a:pt x="0" y="18401"/>
                    <a:pt x="18401" y="0"/>
                    <a:pt x="41100" y="0"/>
                  </a:cubicBezTo>
                  <a:close/>
                </a:path>
              </a:pathLst>
            </a:custGeom>
            <a:solidFill>
              <a:srgbClr val="2F6BA6"/>
            </a:solidFill>
            <a:ln cap="rnd">
              <a:noFill/>
              <a:prstDash val="solid"/>
              <a:round/>
            </a:ln>
          </p:spPr>
        </p:sp>
        <p:sp>
          <p:nvSpPr>
            <p:cNvPr name="TextBox 16" id="16"/>
            <p:cNvSpPr txBox="true"/>
            <p:nvPr/>
          </p:nvSpPr>
          <p:spPr>
            <a:xfrm>
              <a:off x="0" y="-28575"/>
              <a:ext cx="420605" cy="124333"/>
            </a:xfrm>
            <a:prstGeom prst="rect">
              <a:avLst/>
            </a:prstGeom>
          </p:spPr>
          <p:txBody>
            <a:bodyPr anchor="ctr" rtlCol="false" tIns="50800" lIns="50800" bIns="50800" rIns="50800"/>
            <a:lstStyle/>
            <a:p>
              <a:pPr algn="ctr">
                <a:lnSpc>
                  <a:spcPts val="1679"/>
                </a:lnSpc>
              </a:pPr>
            </a:p>
          </p:txBody>
        </p:sp>
      </p:grpSp>
      <p:grpSp>
        <p:nvGrpSpPr>
          <p:cNvPr name="Group 17" id="17"/>
          <p:cNvGrpSpPr/>
          <p:nvPr/>
        </p:nvGrpSpPr>
        <p:grpSpPr>
          <a:xfrm rot="0">
            <a:off x="12041861" y="3166813"/>
            <a:ext cx="4332422" cy="986354"/>
            <a:chOff x="0" y="0"/>
            <a:chExt cx="420605" cy="95758"/>
          </a:xfrm>
        </p:grpSpPr>
        <p:sp>
          <p:nvSpPr>
            <p:cNvPr name="Freeform 18" id="18"/>
            <p:cNvSpPr/>
            <p:nvPr/>
          </p:nvSpPr>
          <p:spPr>
            <a:xfrm flipH="false" flipV="false" rot="0">
              <a:off x="0" y="0"/>
              <a:ext cx="420605" cy="95758"/>
            </a:xfrm>
            <a:custGeom>
              <a:avLst/>
              <a:gdLst/>
              <a:ahLst/>
              <a:cxnLst/>
              <a:rect r="r" b="b" t="t" l="l"/>
              <a:pathLst>
                <a:path h="95758" w="420605">
                  <a:moveTo>
                    <a:pt x="41100" y="0"/>
                  </a:moveTo>
                  <a:lnTo>
                    <a:pt x="379504" y="0"/>
                  </a:lnTo>
                  <a:cubicBezTo>
                    <a:pt x="390405" y="0"/>
                    <a:pt x="400859" y="4330"/>
                    <a:pt x="408567" y="12038"/>
                  </a:cubicBezTo>
                  <a:cubicBezTo>
                    <a:pt x="416275" y="19746"/>
                    <a:pt x="420605" y="30200"/>
                    <a:pt x="420605" y="41100"/>
                  </a:cubicBezTo>
                  <a:lnTo>
                    <a:pt x="420605" y="54658"/>
                  </a:lnTo>
                  <a:cubicBezTo>
                    <a:pt x="420605" y="77357"/>
                    <a:pt x="402203" y="95758"/>
                    <a:pt x="379504" y="95758"/>
                  </a:cubicBezTo>
                  <a:lnTo>
                    <a:pt x="41100" y="95758"/>
                  </a:lnTo>
                  <a:cubicBezTo>
                    <a:pt x="18401" y="95758"/>
                    <a:pt x="0" y="77357"/>
                    <a:pt x="0" y="54658"/>
                  </a:cubicBezTo>
                  <a:lnTo>
                    <a:pt x="0" y="41100"/>
                  </a:lnTo>
                  <a:cubicBezTo>
                    <a:pt x="0" y="18401"/>
                    <a:pt x="18401" y="0"/>
                    <a:pt x="41100" y="0"/>
                  </a:cubicBezTo>
                  <a:close/>
                </a:path>
              </a:pathLst>
            </a:custGeom>
            <a:solidFill>
              <a:srgbClr val="2F6BA6"/>
            </a:solidFill>
            <a:ln cap="rnd">
              <a:noFill/>
              <a:prstDash val="solid"/>
              <a:round/>
            </a:ln>
          </p:spPr>
        </p:sp>
        <p:sp>
          <p:nvSpPr>
            <p:cNvPr name="TextBox 19" id="19"/>
            <p:cNvSpPr txBox="true"/>
            <p:nvPr/>
          </p:nvSpPr>
          <p:spPr>
            <a:xfrm>
              <a:off x="0" y="-28575"/>
              <a:ext cx="420605" cy="124333"/>
            </a:xfrm>
            <a:prstGeom prst="rect">
              <a:avLst/>
            </a:prstGeom>
          </p:spPr>
          <p:txBody>
            <a:bodyPr anchor="ctr" rtlCol="false" tIns="50800" lIns="50800" bIns="50800" rIns="50800"/>
            <a:lstStyle/>
            <a:p>
              <a:pPr algn="ctr">
                <a:lnSpc>
                  <a:spcPts val="1679"/>
                </a:lnSpc>
              </a:pPr>
            </a:p>
          </p:txBody>
        </p:sp>
      </p:grpSp>
      <p:sp>
        <p:nvSpPr>
          <p:cNvPr name="Freeform 20" id="20"/>
          <p:cNvSpPr/>
          <p:nvPr/>
        </p:nvSpPr>
        <p:spPr>
          <a:xfrm flipH="false" flipV="false" rot="0">
            <a:off x="12004886" y="4959205"/>
            <a:ext cx="4406372" cy="4151582"/>
          </a:xfrm>
          <a:custGeom>
            <a:avLst/>
            <a:gdLst/>
            <a:ahLst/>
            <a:cxnLst/>
            <a:rect r="r" b="b" t="t" l="l"/>
            <a:pathLst>
              <a:path h="4151582" w="4406372">
                <a:moveTo>
                  <a:pt x="0" y="0"/>
                </a:moveTo>
                <a:lnTo>
                  <a:pt x="4406372" y="0"/>
                </a:lnTo>
                <a:lnTo>
                  <a:pt x="4406372" y="4151581"/>
                </a:lnTo>
                <a:lnTo>
                  <a:pt x="0" y="4151581"/>
                </a:lnTo>
                <a:lnTo>
                  <a:pt x="0" y="0"/>
                </a:lnTo>
                <a:close/>
              </a:path>
            </a:pathLst>
          </a:custGeom>
          <a:blipFill>
            <a:blip r:embed="rId2"/>
            <a:stretch>
              <a:fillRect l="0" t="0" r="0" b="0"/>
            </a:stretch>
          </a:blipFill>
        </p:spPr>
      </p:sp>
      <p:sp>
        <p:nvSpPr>
          <p:cNvPr name="Freeform 21" id="21"/>
          <p:cNvSpPr/>
          <p:nvPr/>
        </p:nvSpPr>
        <p:spPr>
          <a:xfrm flipH="false" flipV="false" rot="0">
            <a:off x="1931339" y="4959205"/>
            <a:ext cx="4383658" cy="4151582"/>
          </a:xfrm>
          <a:custGeom>
            <a:avLst/>
            <a:gdLst/>
            <a:ahLst/>
            <a:cxnLst/>
            <a:rect r="r" b="b" t="t" l="l"/>
            <a:pathLst>
              <a:path h="4151582" w="4383658">
                <a:moveTo>
                  <a:pt x="0" y="0"/>
                </a:moveTo>
                <a:lnTo>
                  <a:pt x="4383658" y="0"/>
                </a:lnTo>
                <a:lnTo>
                  <a:pt x="4383658" y="4151581"/>
                </a:lnTo>
                <a:lnTo>
                  <a:pt x="0" y="4151581"/>
                </a:lnTo>
                <a:lnTo>
                  <a:pt x="0" y="0"/>
                </a:lnTo>
                <a:close/>
              </a:path>
            </a:pathLst>
          </a:custGeom>
          <a:blipFill>
            <a:blip r:embed="rId3"/>
            <a:stretch>
              <a:fillRect l="0" t="0" r="0" b="0"/>
            </a:stretch>
          </a:blipFill>
        </p:spPr>
      </p:sp>
      <p:sp>
        <p:nvSpPr>
          <p:cNvPr name="Freeform 22" id="22"/>
          <p:cNvSpPr/>
          <p:nvPr/>
        </p:nvSpPr>
        <p:spPr>
          <a:xfrm flipH="false" flipV="false" rot="0">
            <a:off x="6894017" y="4959205"/>
            <a:ext cx="4499966" cy="4151582"/>
          </a:xfrm>
          <a:custGeom>
            <a:avLst/>
            <a:gdLst/>
            <a:ahLst/>
            <a:cxnLst/>
            <a:rect r="r" b="b" t="t" l="l"/>
            <a:pathLst>
              <a:path h="4151582" w="4499966">
                <a:moveTo>
                  <a:pt x="0" y="0"/>
                </a:moveTo>
                <a:lnTo>
                  <a:pt x="4499966" y="0"/>
                </a:lnTo>
                <a:lnTo>
                  <a:pt x="4499966" y="4151581"/>
                </a:lnTo>
                <a:lnTo>
                  <a:pt x="0" y="4151581"/>
                </a:lnTo>
                <a:lnTo>
                  <a:pt x="0" y="0"/>
                </a:lnTo>
                <a:close/>
              </a:path>
            </a:pathLst>
          </a:custGeom>
          <a:blipFill>
            <a:blip r:embed="rId4"/>
            <a:stretch>
              <a:fillRect l="0" t="0" r="0" b="0"/>
            </a:stretch>
          </a:blipFill>
        </p:spPr>
      </p:sp>
      <p:sp>
        <p:nvSpPr>
          <p:cNvPr name="TextBox 23" id="2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5: Tables</a:t>
            </a:r>
          </a:p>
        </p:txBody>
      </p:sp>
      <p:sp>
        <p:nvSpPr>
          <p:cNvPr name="TextBox 24" id="24"/>
          <p:cNvSpPr txBox="true"/>
          <p:nvPr/>
        </p:nvSpPr>
        <p:spPr>
          <a:xfrm rot="0">
            <a:off x="2133974" y="3274187"/>
            <a:ext cx="3891908" cy="409575"/>
          </a:xfrm>
          <a:prstGeom prst="rect">
            <a:avLst/>
          </a:prstGeom>
        </p:spPr>
        <p:txBody>
          <a:bodyPr anchor="t" rtlCol="false" tIns="0" lIns="0" bIns="0" rIns="0">
            <a:spAutoFit/>
          </a:bodyPr>
          <a:lstStyle/>
          <a:p>
            <a:pPr algn="ctr">
              <a:lnSpc>
                <a:spcPts val="3120"/>
              </a:lnSpc>
            </a:pPr>
            <a:r>
              <a:rPr lang="en-US" b="true" sz="2600">
                <a:solidFill>
                  <a:srgbClr val="FFFFFF"/>
                </a:solidFill>
                <a:latin typeface="Poppins Bold"/>
                <a:ea typeface="Poppins Bold"/>
                <a:cs typeface="Poppins Bold"/>
                <a:sym typeface="Poppins Bold"/>
              </a:rPr>
              <a:t>Education_Indicators</a:t>
            </a:r>
          </a:p>
        </p:txBody>
      </p:sp>
      <p:sp>
        <p:nvSpPr>
          <p:cNvPr name="TextBox 25" id="25"/>
          <p:cNvSpPr txBox="true"/>
          <p:nvPr/>
        </p:nvSpPr>
        <p:spPr>
          <a:xfrm rot="0">
            <a:off x="7198046" y="3274187"/>
            <a:ext cx="3891908" cy="409575"/>
          </a:xfrm>
          <a:prstGeom prst="rect">
            <a:avLst/>
          </a:prstGeom>
        </p:spPr>
        <p:txBody>
          <a:bodyPr anchor="t" rtlCol="false" tIns="0" lIns="0" bIns="0" rIns="0">
            <a:spAutoFit/>
          </a:bodyPr>
          <a:lstStyle/>
          <a:p>
            <a:pPr algn="ctr">
              <a:lnSpc>
                <a:spcPts val="3120"/>
              </a:lnSpc>
            </a:pPr>
            <a:r>
              <a:rPr lang="en-US" b="true" sz="2600">
                <a:solidFill>
                  <a:srgbClr val="FFFFFF"/>
                </a:solidFill>
                <a:latin typeface="Poppins Bold"/>
                <a:ea typeface="Poppins Bold"/>
                <a:cs typeface="Poppins Bold"/>
                <a:sym typeface="Poppins Bold"/>
              </a:rPr>
              <a:t>Energy_Production</a:t>
            </a:r>
          </a:p>
        </p:txBody>
      </p:sp>
      <p:sp>
        <p:nvSpPr>
          <p:cNvPr name="TextBox 26" id="26"/>
          <p:cNvSpPr txBox="true"/>
          <p:nvPr/>
        </p:nvSpPr>
        <p:spPr>
          <a:xfrm rot="0">
            <a:off x="12262118" y="3274187"/>
            <a:ext cx="3891908" cy="409575"/>
          </a:xfrm>
          <a:prstGeom prst="rect">
            <a:avLst/>
          </a:prstGeom>
        </p:spPr>
        <p:txBody>
          <a:bodyPr anchor="t" rtlCol="false" tIns="0" lIns="0" bIns="0" rIns="0">
            <a:spAutoFit/>
          </a:bodyPr>
          <a:lstStyle/>
          <a:p>
            <a:pPr algn="ctr">
              <a:lnSpc>
                <a:spcPts val="3120"/>
              </a:lnSpc>
            </a:pPr>
            <a:r>
              <a:rPr lang="en-US" b="true" sz="2600">
                <a:solidFill>
                  <a:srgbClr val="FFFFFF"/>
                </a:solidFill>
                <a:latin typeface="Poppins Bold"/>
                <a:ea typeface="Poppins Bold"/>
                <a:cs typeface="Poppins Bold"/>
                <a:sym typeface="Poppins Bold"/>
              </a:rPr>
              <a:t>Climate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CE0ED"/>
        </a:solidFill>
      </p:bgPr>
    </p:bg>
    <p:spTree>
      <p:nvGrpSpPr>
        <p:cNvPr id="1" name=""/>
        <p:cNvGrpSpPr/>
        <p:nvPr/>
      </p:nvGrpSpPr>
      <p:grpSpPr>
        <a:xfrm>
          <a:off x="0" y="0"/>
          <a:ext cx="0" cy="0"/>
          <a:chOff x="0" y="0"/>
          <a:chExt cx="0" cy="0"/>
        </a:xfrm>
      </p:grpSpPr>
      <p:grpSp>
        <p:nvGrpSpPr>
          <p:cNvPr name="Group 2" id="2"/>
          <p:cNvGrpSpPr/>
          <p:nvPr/>
        </p:nvGrpSpPr>
        <p:grpSpPr>
          <a:xfrm rot="0">
            <a:off x="487959" y="875983"/>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800000">
            <a:off x="-386260" y="-365965"/>
            <a:ext cx="3510491" cy="3617546"/>
            <a:chOff x="0" y="0"/>
            <a:chExt cx="558800" cy="575841"/>
          </a:xfrm>
        </p:grpSpPr>
        <p:sp>
          <p:nvSpPr>
            <p:cNvPr name="Freeform 6" id="6"/>
            <p:cNvSpPr/>
            <p:nvPr/>
          </p:nvSpPr>
          <p:spPr>
            <a:xfrm flipH="false" flipV="false" rot="0">
              <a:off x="0" y="0"/>
              <a:ext cx="558800" cy="575841"/>
            </a:xfrm>
            <a:custGeom>
              <a:avLst/>
              <a:gdLst/>
              <a:ahLst/>
              <a:cxnLst/>
              <a:rect r="r" b="b" t="t" l="l"/>
              <a:pathLst>
                <a:path h="575841" w="558800">
                  <a:moveTo>
                    <a:pt x="0" y="575841"/>
                  </a:moveTo>
                  <a:cubicBezTo>
                    <a:pt x="0" y="424187"/>
                    <a:pt x="59606" y="275896"/>
                    <a:pt x="163669" y="168660"/>
                  </a:cubicBezTo>
                  <a:cubicBezTo>
                    <a:pt x="267731" y="61424"/>
                    <a:pt x="411634" y="0"/>
                    <a:pt x="558800" y="0"/>
                  </a:cubicBezTo>
                  <a:lnTo>
                    <a:pt x="558800" y="575841"/>
                  </a:lnTo>
                  <a:lnTo>
                    <a:pt x="0" y="575841"/>
                  </a:lnTo>
                  <a:close/>
                </a:path>
              </a:pathLst>
            </a:custGeom>
            <a:solidFill>
              <a:srgbClr val="FFC778"/>
            </a:solidFill>
            <a:ln cap="sq">
              <a:noFill/>
              <a:prstDash val="solid"/>
              <a:miter/>
            </a:ln>
          </p:spPr>
        </p:sp>
        <p:sp>
          <p:nvSpPr>
            <p:cNvPr name="TextBox 7" id="7"/>
            <p:cNvSpPr txBox="true"/>
            <p:nvPr/>
          </p:nvSpPr>
          <p:spPr>
            <a:xfrm>
              <a:off x="165100" y="132035"/>
              <a:ext cx="393700" cy="44380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806438" y="3611677"/>
            <a:ext cx="733830" cy="420284"/>
          </a:xfrm>
          <a:custGeom>
            <a:avLst/>
            <a:gdLst/>
            <a:ahLst/>
            <a:cxnLst/>
            <a:rect r="r" b="b" t="t" l="l"/>
            <a:pathLst>
              <a:path h="420284" w="733830">
                <a:moveTo>
                  <a:pt x="0" y="0"/>
                </a:moveTo>
                <a:lnTo>
                  <a:pt x="733829" y="0"/>
                </a:lnTo>
                <a:lnTo>
                  <a:pt x="733829" y="420285"/>
                </a:lnTo>
                <a:lnTo>
                  <a:pt x="0" y="4202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3673139" y="5637677"/>
            <a:ext cx="5017957" cy="5017957"/>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a:ln cap="sq">
              <a:noFill/>
              <a:prstDash val="solid"/>
              <a:miter/>
            </a:ln>
          </p:spPr>
        </p:sp>
        <p:sp>
          <p:nvSpPr>
            <p:cNvPr name="TextBox 11" id="11"/>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3421741" y="6951181"/>
            <a:ext cx="3335819" cy="3335819"/>
          </a:xfrm>
          <a:custGeom>
            <a:avLst/>
            <a:gdLst/>
            <a:ahLst/>
            <a:cxnLst/>
            <a:rect r="r" b="b" t="t" l="l"/>
            <a:pathLst>
              <a:path h="3335819" w="3335819">
                <a:moveTo>
                  <a:pt x="0" y="0"/>
                </a:moveTo>
                <a:lnTo>
                  <a:pt x="3335819" y="0"/>
                </a:lnTo>
                <a:lnTo>
                  <a:pt x="3335819" y="3335819"/>
                </a:lnTo>
                <a:lnTo>
                  <a:pt x="0" y="3335819"/>
                </a:lnTo>
                <a:lnTo>
                  <a:pt x="0" y="0"/>
                </a:lnTo>
                <a:close/>
              </a:path>
            </a:pathLst>
          </a:custGeom>
          <a:blipFill>
            <a:blip r:embed="rId4"/>
            <a:stretch>
              <a:fillRect l="0" t="0" r="0" b="0"/>
            </a:stretch>
          </a:blipFill>
        </p:spPr>
      </p:sp>
      <p:sp>
        <p:nvSpPr>
          <p:cNvPr name="Freeform 13" id="13"/>
          <p:cNvSpPr/>
          <p:nvPr/>
        </p:nvSpPr>
        <p:spPr>
          <a:xfrm flipH="false" flipV="false" rot="0">
            <a:off x="8401612" y="3611677"/>
            <a:ext cx="733830" cy="420284"/>
          </a:xfrm>
          <a:custGeom>
            <a:avLst/>
            <a:gdLst/>
            <a:ahLst/>
            <a:cxnLst/>
            <a:rect r="r" b="b" t="t" l="l"/>
            <a:pathLst>
              <a:path h="420284" w="733830">
                <a:moveTo>
                  <a:pt x="0" y="0"/>
                </a:moveTo>
                <a:lnTo>
                  <a:pt x="733830" y="0"/>
                </a:lnTo>
                <a:lnTo>
                  <a:pt x="733830" y="420285"/>
                </a:lnTo>
                <a:lnTo>
                  <a:pt x="0" y="4202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4234610" y="3597982"/>
            <a:ext cx="2356501" cy="6039130"/>
          </a:xfrm>
          <a:custGeom>
            <a:avLst/>
            <a:gdLst/>
            <a:ahLst/>
            <a:cxnLst/>
            <a:rect r="r" b="b" t="t" l="l"/>
            <a:pathLst>
              <a:path h="6039130" w="2356501">
                <a:moveTo>
                  <a:pt x="0" y="0"/>
                </a:moveTo>
                <a:lnTo>
                  <a:pt x="2356501" y="0"/>
                </a:lnTo>
                <a:lnTo>
                  <a:pt x="2356501" y="6039130"/>
                </a:lnTo>
                <a:lnTo>
                  <a:pt x="0" y="6039130"/>
                </a:lnTo>
                <a:lnTo>
                  <a:pt x="0" y="0"/>
                </a:lnTo>
                <a:close/>
              </a:path>
            </a:pathLst>
          </a:custGeom>
          <a:blipFill>
            <a:blip r:embed="rId5"/>
            <a:stretch>
              <a:fillRect l="0" t="0" r="0" b="0"/>
            </a:stretch>
          </a:blipFill>
        </p:spPr>
      </p:sp>
      <p:sp>
        <p:nvSpPr>
          <p:cNvPr name="TextBox 15" id="15"/>
          <p:cNvSpPr txBox="true"/>
          <p:nvPr/>
        </p:nvSpPr>
        <p:spPr>
          <a:xfrm rot="0">
            <a:off x="4262940" y="1104900"/>
            <a:ext cx="9762120" cy="1873250"/>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Data Sources And Chosen Countries</a:t>
            </a:r>
          </a:p>
        </p:txBody>
      </p:sp>
      <p:sp>
        <p:nvSpPr>
          <p:cNvPr name="TextBox 16" id="16"/>
          <p:cNvSpPr txBox="true"/>
          <p:nvPr/>
        </p:nvSpPr>
        <p:spPr>
          <a:xfrm rot="0">
            <a:off x="2749416" y="3607507"/>
            <a:ext cx="4680469" cy="438150"/>
          </a:xfrm>
          <a:prstGeom prst="rect">
            <a:avLst/>
          </a:prstGeom>
        </p:spPr>
        <p:txBody>
          <a:bodyPr anchor="t" rtlCol="false" tIns="0" lIns="0" bIns="0" rIns="0">
            <a:spAutoFit/>
          </a:bodyPr>
          <a:lstStyle/>
          <a:p>
            <a:pPr algn="l">
              <a:lnSpc>
                <a:spcPts val="3299"/>
              </a:lnSpc>
            </a:pPr>
            <a:r>
              <a:rPr lang="en-US" b="true" sz="2999" i="true" spc="-59">
                <a:solidFill>
                  <a:srgbClr val="2F6BA6"/>
                </a:solidFill>
                <a:latin typeface="Poppins Bold Italics"/>
                <a:ea typeface="Poppins Bold Italics"/>
                <a:cs typeface="Poppins Bold Italics"/>
                <a:sym typeface="Poppins Bold Italics"/>
              </a:rPr>
              <a:t>Data Sources</a:t>
            </a:r>
          </a:p>
        </p:txBody>
      </p:sp>
      <p:sp>
        <p:nvSpPr>
          <p:cNvPr name="TextBox 17" id="17"/>
          <p:cNvSpPr txBox="true"/>
          <p:nvPr/>
        </p:nvSpPr>
        <p:spPr>
          <a:xfrm rot="0">
            <a:off x="2749416" y="4170207"/>
            <a:ext cx="5138616" cy="3075940"/>
          </a:xfrm>
          <a:prstGeom prst="rect">
            <a:avLst/>
          </a:prstGeom>
        </p:spPr>
        <p:txBody>
          <a:bodyPr anchor="t" rtlCol="false" tIns="0" lIns="0" bIns="0" rIns="0">
            <a:spAutoFit/>
          </a:bodyPr>
          <a:lstStyle/>
          <a:p>
            <a:pPr algn="l">
              <a:lnSpc>
                <a:spcPts val="2420"/>
              </a:lnSpc>
            </a:pPr>
            <a:r>
              <a:rPr lang="en-US" sz="2200" spc="-44">
                <a:solidFill>
                  <a:srgbClr val="2A2F3D"/>
                </a:solidFill>
                <a:latin typeface="Poppins"/>
                <a:ea typeface="Poppins"/>
                <a:cs typeface="Poppins"/>
                <a:sym typeface="Poppins"/>
              </a:rPr>
              <a:t>All data was used from the </a:t>
            </a:r>
            <a:r>
              <a:rPr lang="en-US" sz="2200" spc="-44">
                <a:solidFill>
                  <a:srgbClr val="2A2F3D"/>
                </a:solidFill>
                <a:latin typeface="Poppins"/>
                <a:ea typeface="Poppins"/>
                <a:cs typeface="Poppins"/>
                <a:sym typeface="Poppins"/>
              </a:rPr>
              <a:t>ourworldindata.org website. We chose this data source because it was the most relevant to our data research.</a:t>
            </a:r>
          </a:p>
          <a:p>
            <a:pPr algn="l">
              <a:lnSpc>
                <a:spcPts val="2420"/>
              </a:lnSpc>
            </a:pPr>
          </a:p>
          <a:p>
            <a:pPr algn="l" marL="0" indent="0" lvl="0">
              <a:lnSpc>
                <a:spcPts val="2420"/>
              </a:lnSpc>
              <a:spcBef>
                <a:spcPct val="0"/>
              </a:spcBef>
            </a:pPr>
            <a:r>
              <a:rPr lang="en-US" sz="2200" spc="-44">
                <a:solidFill>
                  <a:srgbClr val="2A2F3D"/>
                </a:solidFill>
                <a:latin typeface="Poppins"/>
                <a:ea typeface="Poppins"/>
                <a:cs typeface="Poppins"/>
                <a:sym typeface="Poppins"/>
              </a:rPr>
              <a:t>Though there were plans to integrate other data sources, we thought it was best to use a single data pipeline to maintain consistency across our analyses. </a:t>
            </a:r>
          </a:p>
        </p:txBody>
      </p:sp>
      <p:sp>
        <p:nvSpPr>
          <p:cNvPr name="TextBox 18" id="18"/>
          <p:cNvSpPr txBox="true"/>
          <p:nvPr/>
        </p:nvSpPr>
        <p:spPr>
          <a:xfrm rot="0">
            <a:off x="9344591" y="3607507"/>
            <a:ext cx="4680469" cy="438150"/>
          </a:xfrm>
          <a:prstGeom prst="rect">
            <a:avLst/>
          </a:prstGeom>
        </p:spPr>
        <p:txBody>
          <a:bodyPr anchor="t" rtlCol="false" tIns="0" lIns="0" bIns="0" rIns="0">
            <a:spAutoFit/>
          </a:bodyPr>
          <a:lstStyle/>
          <a:p>
            <a:pPr algn="l">
              <a:lnSpc>
                <a:spcPts val="3299"/>
              </a:lnSpc>
            </a:pPr>
            <a:r>
              <a:rPr lang="en-US" b="true" sz="2999" i="true" spc="-59">
                <a:solidFill>
                  <a:srgbClr val="2F6BA6"/>
                </a:solidFill>
                <a:latin typeface="Poppins Bold Italics"/>
                <a:ea typeface="Poppins Bold Italics"/>
                <a:cs typeface="Poppins Bold Italics"/>
                <a:sym typeface="Poppins Bold Italics"/>
              </a:rPr>
              <a:t>Chosen Countries</a:t>
            </a:r>
          </a:p>
        </p:txBody>
      </p:sp>
      <p:sp>
        <p:nvSpPr>
          <p:cNvPr name="TextBox 19" id="19"/>
          <p:cNvSpPr txBox="true"/>
          <p:nvPr/>
        </p:nvSpPr>
        <p:spPr>
          <a:xfrm rot="0">
            <a:off x="8401612" y="4170207"/>
            <a:ext cx="5138616" cy="3075940"/>
          </a:xfrm>
          <a:prstGeom prst="rect">
            <a:avLst/>
          </a:prstGeom>
        </p:spPr>
        <p:txBody>
          <a:bodyPr anchor="t" rtlCol="false" tIns="0" lIns="0" bIns="0" rIns="0">
            <a:spAutoFit/>
          </a:bodyPr>
          <a:lstStyle/>
          <a:p>
            <a:pPr algn="l">
              <a:lnSpc>
                <a:spcPts val="2420"/>
              </a:lnSpc>
            </a:pPr>
            <a:r>
              <a:rPr lang="en-US" sz="2200" spc="-44">
                <a:solidFill>
                  <a:srgbClr val="2A2F3D"/>
                </a:solidFill>
                <a:latin typeface="Poppins"/>
                <a:ea typeface="Poppins"/>
                <a:cs typeface="Poppins"/>
                <a:sym typeface="Poppins"/>
              </a:rPr>
              <a:t>We chose countries that we were interested in. Along with a single year for most of these instances. </a:t>
            </a:r>
          </a:p>
          <a:p>
            <a:pPr algn="l">
              <a:lnSpc>
                <a:spcPts val="2420"/>
              </a:lnSpc>
            </a:pPr>
          </a:p>
          <a:p>
            <a:pPr algn="l" marL="0" indent="0" lvl="0">
              <a:lnSpc>
                <a:spcPts val="2420"/>
              </a:lnSpc>
              <a:spcBef>
                <a:spcPct val="0"/>
              </a:spcBef>
            </a:pPr>
            <a:r>
              <a:rPr lang="en-US" sz="2200" spc="-44">
                <a:solidFill>
                  <a:srgbClr val="2A2F3D"/>
                </a:solidFill>
                <a:latin typeface="Poppins"/>
                <a:ea typeface="Poppins"/>
                <a:cs typeface="Poppins"/>
                <a:sym typeface="Poppins"/>
              </a:rPr>
              <a:t>Though adding more yearly data may be ideal, for the example of demonstrating our queries, we kept the number of rows small. However, this can be expanded further with more data entries in the future.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806438" y="4019431"/>
            <a:ext cx="6627639" cy="4276405"/>
          </a:xfrm>
          <a:custGeom>
            <a:avLst/>
            <a:gdLst/>
            <a:ahLst/>
            <a:cxnLst/>
            <a:rect r="r" b="b" t="t" l="l"/>
            <a:pathLst>
              <a:path h="4276405" w="6627639">
                <a:moveTo>
                  <a:pt x="0" y="0"/>
                </a:moveTo>
                <a:lnTo>
                  <a:pt x="6627638" y="0"/>
                </a:lnTo>
                <a:lnTo>
                  <a:pt x="6627638" y="4276405"/>
                </a:lnTo>
                <a:lnTo>
                  <a:pt x="0" y="4276405"/>
                </a:lnTo>
                <a:lnTo>
                  <a:pt x="0" y="0"/>
                </a:lnTo>
                <a:close/>
              </a:path>
            </a:pathLst>
          </a:custGeom>
          <a:blipFill>
            <a:blip r:embed="rId2"/>
            <a:stretch>
              <a:fillRect l="0" t="0" r="0" b="0"/>
            </a:stretch>
          </a:blipFill>
        </p:spPr>
      </p:sp>
      <p:sp>
        <p:nvSpPr>
          <p:cNvPr name="Freeform 12" id="12"/>
          <p:cNvSpPr/>
          <p:nvPr/>
        </p:nvSpPr>
        <p:spPr>
          <a:xfrm flipH="false" flipV="false" rot="0">
            <a:off x="9004228" y="3640092"/>
            <a:ext cx="6069264" cy="5802971"/>
          </a:xfrm>
          <a:custGeom>
            <a:avLst/>
            <a:gdLst/>
            <a:ahLst/>
            <a:cxnLst/>
            <a:rect r="r" b="b" t="t" l="l"/>
            <a:pathLst>
              <a:path h="5802971" w="6069264">
                <a:moveTo>
                  <a:pt x="0" y="0"/>
                </a:moveTo>
                <a:lnTo>
                  <a:pt x="6069264" y="0"/>
                </a:lnTo>
                <a:lnTo>
                  <a:pt x="6069264" y="5802971"/>
                </a:lnTo>
                <a:lnTo>
                  <a:pt x="0" y="5802971"/>
                </a:lnTo>
                <a:lnTo>
                  <a:pt x="0" y="0"/>
                </a:lnTo>
                <a:close/>
              </a:path>
            </a:pathLst>
          </a:custGeom>
          <a:blipFill>
            <a:blip r:embed="rId3"/>
            <a:stretch>
              <a:fillRect l="0" t="0" r="0" b="0"/>
            </a:stretch>
          </a:blipFill>
        </p:spPr>
      </p:sp>
      <p:sp>
        <p:nvSpPr>
          <p:cNvPr name="TextBox 13" id="1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6: Query 1</a:t>
            </a:r>
          </a:p>
        </p:txBody>
      </p:sp>
      <p:sp>
        <p:nvSpPr>
          <p:cNvPr name="TextBox 14" id="1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Does High Percent Of Education Influence The Use Of Fossil Fuels?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666666" y="3840650"/>
            <a:ext cx="7337562" cy="5103644"/>
          </a:xfrm>
          <a:custGeom>
            <a:avLst/>
            <a:gdLst/>
            <a:ahLst/>
            <a:cxnLst/>
            <a:rect r="r" b="b" t="t" l="l"/>
            <a:pathLst>
              <a:path h="5103644" w="7337562">
                <a:moveTo>
                  <a:pt x="0" y="0"/>
                </a:moveTo>
                <a:lnTo>
                  <a:pt x="7337562" y="0"/>
                </a:lnTo>
                <a:lnTo>
                  <a:pt x="7337562" y="5103644"/>
                </a:lnTo>
                <a:lnTo>
                  <a:pt x="0" y="5103644"/>
                </a:lnTo>
                <a:lnTo>
                  <a:pt x="0" y="0"/>
                </a:lnTo>
                <a:close/>
              </a:path>
            </a:pathLst>
          </a:custGeom>
          <a:blipFill>
            <a:blip r:embed="rId2"/>
            <a:stretch>
              <a:fillRect l="0" t="0" r="0" b="0"/>
            </a:stretch>
          </a:blipFill>
        </p:spPr>
      </p:sp>
      <p:sp>
        <p:nvSpPr>
          <p:cNvPr name="Freeform 12" id="12"/>
          <p:cNvSpPr/>
          <p:nvPr/>
        </p:nvSpPr>
        <p:spPr>
          <a:xfrm flipH="false" flipV="false" rot="0">
            <a:off x="9418282" y="4258945"/>
            <a:ext cx="5850134" cy="3955020"/>
          </a:xfrm>
          <a:custGeom>
            <a:avLst/>
            <a:gdLst/>
            <a:ahLst/>
            <a:cxnLst/>
            <a:rect r="r" b="b" t="t" l="l"/>
            <a:pathLst>
              <a:path h="3955020" w="5850134">
                <a:moveTo>
                  <a:pt x="0" y="0"/>
                </a:moveTo>
                <a:lnTo>
                  <a:pt x="5850134" y="0"/>
                </a:lnTo>
                <a:lnTo>
                  <a:pt x="5850134" y="3955020"/>
                </a:lnTo>
                <a:lnTo>
                  <a:pt x="0" y="3955020"/>
                </a:lnTo>
                <a:lnTo>
                  <a:pt x="0" y="0"/>
                </a:lnTo>
                <a:close/>
              </a:path>
            </a:pathLst>
          </a:custGeom>
          <a:blipFill>
            <a:blip r:embed="rId3"/>
            <a:stretch>
              <a:fillRect l="0" t="0" r="0" b="0"/>
            </a:stretch>
          </a:blipFill>
        </p:spPr>
      </p:sp>
      <p:sp>
        <p:nvSpPr>
          <p:cNvPr name="TextBox 13" id="1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6: Query 2</a:t>
            </a:r>
          </a:p>
        </p:txBody>
      </p:sp>
      <p:sp>
        <p:nvSpPr>
          <p:cNvPr name="TextBox 14" id="1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Who Has The Highest Amount Of Renweable Energy Sources Globally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8471087" y="5143500"/>
            <a:ext cx="8508670" cy="1887071"/>
          </a:xfrm>
          <a:custGeom>
            <a:avLst/>
            <a:gdLst/>
            <a:ahLst/>
            <a:cxnLst/>
            <a:rect r="r" b="b" t="t" l="l"/>
            <a:pathLst>
              <a:path h="1887071" w="8508670">
                <a:moveTo>
                  <a:pt x="0" y="0"/>
                </a:moveTo>
                <a:lnTo>
                  <a:pt x="8508669" y="0"/>
                </a:lnTo>
                <a:lnTo>
                  <a:pt x="8508669" y="1887071"/>
                </a:lnTo>
                <a:lnTo>
                  <a:pt x="0" y="1887071"/>
                </a:lnTo>
                <a:lnTo>
                  <a:pt x="0" y="0"/>
                </a:lnTo>
                <a:close/>
              </a:path>
            </a:pathLst>
          </a:custGeom>
          <a:blipFill>
            <a:blip r:embed="rId2"/>
            <a:stretch>
              <a:fillRect l="0" t="0" r="0" b="0"/>
            </a:stretch>
          </a:blipFill>
        </p:spPr>
      </p:sp>
      <p:sp>
        <p:nvSpPr>
          <p:cNvPr name="Freeform 12" id="12"/>
          <p:cNvSpPr/>
          <p:nvPr/>
        </p:nvSpPr>
        <p:spPr>
          <a:xfrm flipH="false" flipV="false" rot="0">
            <a:off x="1806438" y="3703513"/>
            <a:ext cx="5621232" cy="5554787"/>
          </a:xfrm>
          <a:custGeom>
            <a:avLst/>
            <a:gdLst/>
            <a:ahLst/>
            <a:cxnLst/>
            <a:rect r="r" b="b" t="t" l="l"/>
            <a:pathLst>
              <a:path h="5554787" w="5621232">
                <a:moveTo>
                  <a:pt x="0" y="0"/>
                </a:moveTo>
                <a:lnTo>
                  <a:pt x="5621231" y="0"/>
                </a:lnTo>
                <a:lnTo>
                  <a:pt x="5621231" y="5554787"/>
                </a:lnTo>
                <a:lnTo>
                  <a:pt x="0" y="5554787"/>
                </a:lnTo>
                <a:lnTo>
                  <a:pt x="0" y="0"/>
                </a:lnTo>
                <a:close/>
              </a:path>
            </a:pathLst>
          </a:custGeom>
          <a:blipFill>
            <a:blip r:embed="rId3"/>
            <a:stretch>
              <a:fillRect l="0" t="0" r="0" b="0"/>
            </a:stretch>
          </a:blipFill>
        </p:spPr>
      </p:sp>
      <p:sp>
        <p:nvSpPr>
          <p:cNvPr name="TextBox 13" id="1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6: Query 3</a:t>
            </a:r>
          </a:p>
        </p:txBody>
      </p:sp>
      <p:sp>
        <p:nvSpPr>
          <p:cNvPr name="TextBox 14" id="1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Does High Literacy Effect Climate Stress?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028700" y="4019431"/>
            <a:ext cx="8497549" cy="4547269"/>
          </a:xfrm>
          <a:custGeom>
            <a:avLst/>
            <a:gdLst/>
            <a:ahLst/>
            <a:cxnLst/>
            <a:rect r="r" b="b" t="t" l="l"/>
            <a:pathLst>
              <a:path h="4547269" w="8497549">
                <a:moveTo>
                  <a:pt x="0" y="0"/>
                </a:moveTo>
                <a:lnTo>
                  <a:pt x="8497549" y="0"/>
                </a:lnTo>
                <a:lnTo>
                  <a:pt x="8497549" y="4547268"/>
                </a:lnTo>
                <a:lnTo>
                  <a:pt x="0" y="4547268"/>
                </a:lnTo>
                <a:lnTo>
                  <a:pt x="0" y="0"/>
                </a:lnTo>
                <a:close/>
              </a:path>
            </a:pathLst>
          </a:custGeom>
          <a:blipFill>
            <a:blip r:embed="rId2"/>
            <a:stretch>
              <a:fillRect l="0" t="0" r="0" b="0"/>
            </a:stretch>
          </a:blipFill>
        </p:spPr>
      </p:sp>
      <p:sp>
        <p:nvSpPr>
          <p:cNvPr name="Freeform 12" id="12"/>
          <p:cNvSpPr/>
          <p:nvPr/>
        </p:nvSpPr>
        <p:spPr>
          <a:xfrm flipH="false" flipV="false" rot="0">
            <a:off x="10112611" y="4019431"/>
            <a:ext cx="6867146" cy="2385866"/>
          </a:xfrm>
          <a:custGeom>
            <a:avLst/>
            <a:gdLst/>
            <a:ahLst/>
            <a:cxnLst/>
            <a:rect r="r" b="b" t="t" l="l"/>
            <a:pathLst>
              <a:path h="2385866" w="6867146">
                <a:moveTo>
                  <a:pt x="0" y="0"/>
                </a:moveTo>
                <a:lnTo>
                  <a:pt x="6867145" y="0"/>
                </a:lnTo>
                <a:lnTo>
                  <a:pt x="6867145" y="2385866"/>
                </a:lnTo>
                <a:lnTo>
                  <a:pt x="0" y="2385866"/>
                </a:lnTo>
                <a:lnTo>
                  <a:pt x="0" y="0"/>
                </a:lnTo>
                <a:close/>
              </a:path>
            </a:pathLst>
          </a:custGeom>
          <a:blipFill>
            <a:blip r:embed="rId3"/>
            <a:stretch>
              <a:fillRect l="0" t="0" r="0" b="0"/>
            </a:stretch>
          </a:blipFill>
        </p:spPr>
      </p:sp>
      <p:sp>
        <p:nvSpPr>
          <p:cNvPr name="TextBox 13" id="1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6: Query 4</a:t>
            </a:r>
          </a:p>
        </p:txBody>
      </p:sp>
      <p:sp>
        <p:nvSpPr>
          <p:cNvPr name="TextBox 14" id="1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What Climate Index “Stress Group’s” Avg Percent Of Renewable Energy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0">
            <a:off x="15268416" y="7232954"/>
            <a:ext cx="3422681" cy="3422681"/>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386260" y="-365965"/>
            <a:ext cx="4385396" cy="4385396"/>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028700" y="3567409"/>
            <a:ext cx="9503070" cy="3152181"/>
          </a:xfrm>
          <a:custGeom>
            <a:avLst/>
            <a:gdLst/>
            <a:ahLst/>
            <a:cxnLst/>
            <a:rect r="r" b="b" t="t" l="l"/>
            <a:pathLst>
              <a:path h="3152181" w="9503070">
                <a:moveTo>
                  <a:pt x="0" y="0"/>
                </a:moveTo>
                <a:lnTo>
                  <a:pt x="9503070" y="0"/>
                </a:lnTo>
                <a:lnTo>
                  <a:pt x="9503070" y="3152182"/>
                </a:lnTo>
                <a:lnTo>
                  <a:pt x="0" y="3152182"/>
                </a:lnTo>
                <a:lnTo>
                  <a:pt x="0" y="0"/>
                </a:lnTo>
                <a:close/>
              </a:path>
            </a:pathLst>
          </a:custGeom>
          <a:blipFill>
            <a:blip r:embed="rId2"/>
            <a:stretch>
              <a:fillRect l="0" t="0" r="0" b="0"/>
            </a:stretch>
          </a:blipFill>
        </p:spPr>
      </p:sp>
      <p:sp>
        <p:nvSpPr>
          <p:cNvPr name="Freeform 12" id="12"/>
          <p:cNvSpPr/>
          <p:nvPr/>
        </p:nvSpPr>
        <p:spPr>
          <a:xfrm flipH="false" flipV="false" rot="0">
            <a:off x="10848332" y="3567409"/>
            <a:ext cx="6410968" cy="4538008"/>
          </a:xfrm>
          <a:custGeom>
            <a:avLst/>
            <a:gdLst/>
            <a:ahLst/>
            <a:cxnLst/>
            <a:rect r="r" b="b" t="t" l="l"/>
            <a:pathLst>
              <a:path h="4538008" w="6410968">
                <a:moveTo>
                  <a:pt x="0" y="0"/>
                </a:moveTo>
                <a:lnTo>
                  <a:pt x="6410968" y="0"/>
                </a:lnTo>
                <a:lnTo>
                  <a:pt x="6410968" y="4538009"/>
                </a:lnTo>
                <a:lnTo>
                  <a:pt x="0" y="4538009"/>
                </a:lnTo>
                <a:lnTo>
                  <a:pt x="0" y="0"/>
                </a:lnTo>
                <a:close/>
              </a:path>
            </a:pathLst>
          </a:custGeom>
          <a:blipFill>
            <a:blip r:embed="rId3"/>
            <a:stretch>
              <a:fillRect l="0" t="0" r="0" b="0"/>
            </a:stretch>
          </a:blipFill>
        </p:spPr>
      </p:sp>
      <p:sp>
        <p:nvSpPr>
          <p:cNvPr name="TextBox 13" id="1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6: Query 5</a:t>
            </a:r>
          </a:p>
        </p:txBody>
      </p:sp>
      <p:sp>
        <p:nvSpPr>
          <p:cNvPr name="TextBox 14" id="1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Rank The Literacy Rates Of Each Country From Each Continent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C778"/>
        </a:solidFill>
      </p:bgPr>
    </p:bg>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5" id="5"/>
          <p:cNvGrpSpPr/>
          <p:nvPr/>
        </p:nvGrpSpPr>
        <p:grpSpPr>
          <a:xfrm rot="5400000">
            <a:off x="-323967" y="6891119"/>
            <a:ext cx="3722826" cy="3722826"/>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14205410" y="-679826"/>
            <a:ext cx="4669572" cy="4669572"/>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433654" y="4473078"/>
            <a:ext cx="3461733" cy="1544426"/>
            <a:chOff x="0" y="0"/>
            <a:chExt cx="336076" cy="149938"/>
          </a:xfrm>
        </p:grpSpPr>
        <p:sp>
          <p:nvSpPr>
            <p:cNvPr name="Freeform 12" id="12"/>
            <p:cNvSpPr/>
            <p:nvPr/>
          </p:nvSpPr>
          <p:spPr>
            <a:xfrm flipH="false" flipV="false" rot="0">
              <a:off x="0" y="0"/>
              <a:ext cx="336076" cy="149938"/>
            </a:xfrm>
            <a:custGeom>
              <a:avLst/>
              <a:gdLst/>
              <a:ahLst/>
              <a:cxnLst/>
              <a:rect r="r" b="b" t="t" l="l"/>
              <a:pathLst>
                <a:path h="149938" w="336076">
                  <a:moveTo>
                    <a:pt x="51438" y="0"/>
                  </a:moveTo>
                  <a:lnTo>
                    <a:pt x="284638" y="0"/>
                  </a:lnTo>
                  <a:cubicBezTo>
                    <a:pt x="298280" y="0"/>
                    <a:pt x="311363" y="5419"/>
                    <a:pt x="321010" y="15066"/>
                  </a:cubicBezTo>
                  <a:cubicBezTo>
                    <a:pt x="330656" y="24712"/>
                    <a:pt x="336076" y="37796"/>
                    <a:pt x="336076" y="51438"/>
                  </a:cubicBezTo>
                  <a:lnTo>
                    <a:pt x="336076" y="98500"/>
                  </a:lnTo>
                  <a:cubicBezTo>
                    <a:pt x="336076" y="126908"/>
                    <a:pt x="313046" y="149938"/>
                    <a:pt x="284638" y="149938"/>
                  </a:cubicBezTo>
                  <a:lnTo>
                    <a:pt x="51438" y="149938"/>
                  </a:lnTo>
                  <a:cubicBezTo>
                    <a:pt x="23030" y="149938"/>
                    <a:pt x="0" y="126908"/>
                    <a:pt x="0" y="98500"/>
                  </a:cubicBezTo>
                  <a:lnTo>
                    <a:pt x="0" y="51438"/>
                  </a:lnTo>
                  <a:cubicBezTo>
                    <a:pt x="0" y="23030"/>
                    <a:pt x="23030" y="0"/>
                    <a:pt x="51438" y="0"/>
                  </a:cubicBezTo>
                  <a:close/>
                </a:path>
              </a:pathLst>
            </a:custGeom>
            <a:solidFill>
              <a:srgbClr val="FA8142"/>
            </a:solidFill>
            <a:ln cap="rnd">
              <a:noFill/>
              <a:prstDash val="solid"/>
              <a:round/>
            </a:ln>
          </p:spPr>
        </p:sp>
        <p:sp>
          <p:nvSpPr>
            <p:cNvPr name="TextBox 13" id="13"/>
            <p:cNvSpPr txBox="true"/>
            <p:nvPr/>
          </p:nvSpPr>
          <p:spPr>
            <a:xfrm>
              <a:off x="0" y="-28575"/>
              <a:ext cx="336076" cy="178513"/>
            </a:xfrm>
            <a:prstGeom prst="rect">
              <a:avLst/>
            </a:prstGeom>
          </p:spPr>
          <p:txBody>
            <a:bodyPr anchor="ctr" rtlCol="false" tIns="50800" lIns="50800" bIns="50800" rIns="50800"/>
            <a:lstStyle/>
            <a:p>
              <a:pPr algn="ctr">
                <a:lnSpc>
                  <a:spcPts val="1679"/>
                </a:lnSpc>
              </a:pPr>
            </a:p>
          </p:txBody>
        </p:sp>
      </p:grpSp>
      <p:grpSp>
        <p:nvGrpSpPr>
          <p:cNvPr name="Group 14" id="14"/>
          <p:cNvGrpSpPr/>
          <p:nvPr/>
        </p:nvGrpSpPr>
        <p:grpSpPr>
          <a:xfrm rot="0">
            <a:off x="1650125" y="4668805"/>
            <a:ext cx="3028790" cy="2222315"/>
            <a:chOff x="0" y="0"/>
            <a:chExt cx="469239" cy="344295"/>
          </a:xfrm>
        </p:grpSpPr>
        <p:sp>
          <p:nvSpPr>
            <p:cNvPr name="Freeform 15" id="15"/>
            <p:cNvSpPr/>
            <p:nvPr/>
          </p:nvSpPr>
          <p:spPr>
            <a:xfrm flipH="false" flipV="false" rot="0">
              <a:off x="0" y="0"/>
              <a:ext cx="469239" cy="344295"/>
            </a:xfrm>
            <a:custGeom>
              <a:avLst/>
              <a:gdLst/>
              <a:ahLst/>
              <a:cxnLst/>
              <a:rect r="r" b="b" t="t" l="l"/>
              <a:pathLst>
                <a:path h="344295" w="469239">
                  <a:moveTo>
                    <a:pt x="51122" y="0"/>
                  </a:moveTo>
                  <a:lnTo>
                    <a:pt x="418117" y="0"/>
                  </a:lnTo>
                  <a:cubicBezTo>
                    <a:pt x="446351" y="0"/>
                    <a:pt x="469239" y="22888"/>
                    <a:pt x="469239" y="51122"/>
                  </a:cubicBezTo>
                  <a:lnTo>
                    <a:pt x="469239" y="293173"/>
                  </a:lnTo>
                  <a:cubicBezTo>
                    <a:pt x="469239" y="321407"/>
                    <a:pt x="446351" y="344295"/>
                    <a:pt x="418117" y="344295"/>
                  </a:cubicBezTo>
                  <a:lnTo>
                    <a:pt x="51122" y="344295"/>
                  </a:lnTo>
                  <a:cubicBezTo>
                    <a:pt x="37564" y="344295"/>
                    <a:pt x="24561" y="338909"/>
                    <a:pt x="14973" y="329321"/>
                  </a:cubicBezTo>
                  <a:cubicBezTo>
                    <a:pt x="5386" y="319734"/>
                    <a:pt x="0" y="306731"/>
                    <a:pt x="0" y="293173"/>
                  </a:cubicBezTo>
                  <a:lnTo>
                    <a:pt x="0" y="51122"/>
                  </a:lnTo>
                  <a:cubicBezTo>
                    <a:pt x="0" y="22888"/>
                    <a:pt x="22888" y="0"/>
                    <a:pt x="51122" y="0"/>
                  </a:cubicBezTo>
                  <a:close/>
                </a:path>
              </a:pathLst>
            </a:custGeom>
            <a:blipFill>
              <a:blip r:embed="rId2"/>
              <a:stretch>
                <a:fillRect l="0" t="-21389" r="0" b="-21389"/>
              </a:stretch>
            </a:blipFill>
          </p:spPr>
        </p:sp>
      </p:grpSp>
      <p:grpSp>
        <p:nvGrpSpPr>
          <p:cNvPr name="Group 16" id="16"/>
          <p:cNvGrpSpPr/>
          <p:nvPr/>
        </p:nvGrpSpPr>
        <p:grpSpPr>
          <a:xfrm rot="0">
            <a:off x="1815149" y="3692403"/>
            <a:ext cx="2698742" cy="1204286"/>
            <a:chOff x="0" y="0"/>
            <a:chExt cx="262002" cy="116916"/>
          </a:xfrm>
        </p:grpSpPr>
        <p:sp>
          <p:nvSpPr>
            <p:cNvPr name="Freeform 17" id="17"/>
            <p:cNvSpPr/>
            <p:nvPr/>
          </p:nvSpPr>
          <p:spPr>
            <a:xfrm flipH="false" flipV="false" rot="0">
              <a:off x="0" y="0"/>
              <a:ext cx="262002" cy="116916"/>
            </a:xfrm>
            <a:custGeom>
              <a:avLst/>
              <a:gdLst/>
              <a:ahLst/>
              <a:cxnLst/>
              <a:rect r="r" b="b" t="t" l="l"/>
              <a:pathLst>
                <a:path h="116916" w="262002">
                  <a:moveTo>
                    <a:pt x="58458" y="0"/>
                  </a:moveTo>
                  <a:lnTo>
                    <a:pt x="203544" y="0"/>
                  </a:lnTo>
                  <a:cubicBezTo>
                    <a:pt x="219048" y="0"/>
                    <a:pt x="233917" y="6159"/>
                    <a:pt x="244880" y="17122"/>
                  </a:cubicBezTo>
                  <a:cubicBezTo>
                    <a:pt x="255843" y="28085"/>
                    <a:pt x="262002" y="42954"/>
                    <a:pt x="262002" y="58458"/>
                  </a:cubicBezTo>
                  <a:lnTo>
                    <a:pt x="262002" y="58458"/>
                  </a:lnTo>
                  <a:cubicBezTo>
                    <a:pt x="262002" y="73962"/>
                    <a:pt x="255843" y="88831"/>
                    <a:pt x="244880" y="99794"/>
                  </a:cubicBezTo>
                  <a:cubicBezTo>
                    <a:pt x="233917" y="110757"/>
                    <a:pt x="219048" y="116916"/>
                    <a:pt x="203544" y="116916"/>
                  </a:cubicBezTo>
                  <a:lnTo>
                    <a:pt x="58458" y="116916"/>
                  </a:lnTo>
                  <a:cubicBezTo>
                    <a:pt x="42954" y="116916"/>
                    <a:pt x="28085" y="110757"/>
                    <a:pt x="17122" y="99794"/>
                  </a:cubicBezTo>
                  <a:cubicBezTo>
                    <a:pt x="6159" y="88831"/>
                    <a:pt x="0" y="73962"/>
                    <a:pt x="0" y="58458"/>
                  </a:cubicBezTo>
                  <a:lnTo>
                    <a:pt x="0" y="58458"/>
                  </a:lnTo>
                  <a:cubicBezTo>
                    <a:pt x="0" y="42954"/>
                    <a:pt x="6159" y="28085"/>
                    <a:pt x="17122" y="17122"/>
                  </a:cubicBezTo>
                  <a:cubicBezTo>
                    <a:pt x="28085" y="6159"/>
                    <a:pt x="42954" y="0"/>
                    <a:pt x="58458" y="0"/>
                  </a:cubicBezTo>
                  <a:close/>
                </a:path>
              </a:pathLst>
            </a:custGeom>
            <a:solidFill>
              <a:srgbClr val="2F6BA6"/>
            </a:solidFill>
            <a:ln cap="rnd">
              <a:noFill/>
              <a:prstDash val="solid"/>
              <a:round/>
            </a:ln>
          </p:spPr>
        </p:sp>
        <p:sp>
          <p:nvSpPr>
            <p:cNvPr name="TextBox 18" id="18"/>
            <p:cNvSpPr txBox="true"/>
            <p:nvPr/>
          </p:nvSpPr>
          <p:spPr>
            <a:xfrm>
              <a:off x="0" y="-28575"/>
              <a:ext cx="262002" cy="145491"/>
            </a:xfrm>
            <a:prstGeom prst="rect">
              <a:avLst/>
            </a:prstGeom>
          </p:spPr>
          <p:txBody>
            <a:bodyPr anchor="ctr" rtlCol="false" tIns="50800" lIns="50800" bIns="50800" rIns="50800"/>
            <a:lstStyle/>
            <a:p>
              <a:pPr algn="ctr">
                <a:lnSpc>
                  <a:spcPts val="1679"/>
                </a:lnSpc>
              </a:pPr>
            </a:p>
          </p:txBody>
        </p:sp>
      </p:grpSp>
      <p:grpSp>
        <p:nvGrpSpPr>
          <p:cNvPr name="Group 19" id="19"/>
          <p:cNvGrpSpPr/>
          <p:nvPr/>
        </p:nvGrpSpPr>
        <p:grpSpPr>
          <a:xfrm rot="0">
            <a:off x="5326792" y="4473078"/>
            <a:ext cx="3461733" cy="1544426"/>
            <a:chOff x="0" y="0"/>
            <a:chExt cx="336076" cy="149938"/>
          </a:xfrm>
        </p:grpSpPr>
        <p:sp>
          <p:nvSpPr>
            <p:cNvPr name="Freeform 20" id="20"/>
            <p:cNvSpPr/>
            <p:nvPr/>
          </p:nvSpPr>
          <p:spPr>
            <a:xfrm flipH="false" flipV="false" rot="0">
              <a:off x="0" y="0"/>
              <a:ext cx="336076" cy="149938"/>
            </a:xfrm>
            <a:custGeom>
              <a:avLst/>
              <a:gdLst/>
              <a:ahLst/>
              <a:cxnLst/>
              <a:rect r="r" b="b" t="t" l="l"/>
              <a:pathLst>
                <a:path h="149938" w="336076">
                  <a:moveTo>
                    <a:pt x="51438" y="0"/>
                  </a:moveTo>
                  <a:lnTo>
                    <a:pt x="284638" y="0"/>
                  </a:lnTo>
                  <a:cubicBezTo>
                    <a:pt x="298280" y="0"/>
                    <a:pt x="311363" y="5419"/>
                    <a:pt x="321010" y="15066"/>
                  </a:cubicBezTo>
                  <a:cubicBezTo>
                    <a:pt x="330656" y="24712"/>
                    <a:pt x="336076" y="37796"/>
                    <a:pt x="336076" y="51438"/>
                  </a:cubicBezTo>
                  <a:lnTo>
                    <a:pt x="336076" y="98500"/>
                  </a:lnTo>
                  <a:cubicBezTo>
                    <a:pt x="336076" y="126908"/>
                    <a:pt x="313046" y="149938"/>
                    <a:pt x="284638" y="149938"/>
                  </a:cubicBezTo>
                  <a:lnTo>
                    <a:pt x="51438" y="149938"/>
                  </a:lnTo>
                  <a:cubicBezTo>
                    <a:pt x="23030" y="149938"/>
                    <a:pt x="0" y="126908"/>
                    <a:pt x="0" y="98500"/>
                  </a:cubicBezTo>
                  <a:lnTo>
                    <a:pt x="0" y="51438"/>
                  </a:lnTo>
                  <a:cubicBezTo>
                    <a:pt x="0" y="23030"/>
                    <a:pt x="23030" y="0"/>
                    <a:pt x="51438" y="0"/>
                  </a:cubicBezTo>
                  <a:close/>
                </a:path>
              </a:pathLst>
            </a:custGeom>
            <a:solidFill>
              <a:srgbClr val="FA8142"/>
            </a:solidFill>
            <a:ln cap="rnd">
              <a:noFill/>
              <a:prstDash val="solid"/>
              <a:round/>
            </a:ln>
          </p:spPr>
        </p:sp>
        <p:sp>
          <p:nvSpPr>
            <p:cNvPr name="TextBox 21" id="21"/>
            <p:cNvSpPr txBox="true"/>
            <p:nvPr/>
          </p:nvSpPr>
          <p:spPr>
            <a:xfrm>
              <a:off x="0" y="-28575"/>
              <a:ext cx="336076" cy="178513"/>
            </a:xfrm>
            <a:prstGeom prst="rect">
              <a:avLst/>
            </a:prstGeom>
          </p:spPr>
          <p:txBody>
            <a:bodyPr anchor="ctr" rtlCol="false" tIns="50800" lIns="50800" bIns="50800" rIns="50800"/>
            <a:lstStyle/>
            <a:p>
              <a:pPr algn="ctr">
                <a:lnSpc>
                  <a:spcPts val="1679"/>
                </a:lnSpc>
              </a:pPr>
            </a:p>
          </p:txBody>
        </p:sp>
      </p:grpSp>
      <p:grpSp>
        <p:nvGrpSpPr>
          <p:cNvPr name="Group 22" id="22"/>
          <p:cNvGrpSpPr/>
          <p:nvPr/>
        </p:nvGrpSpPr>
        <p:grpSpPr>
          <a:xfrm rot="0">
            <a:off x="5543264" y="4668805"/>
            <a:ext cx="3028790" cy="2222315"/>
            <a:chOff x="0" y="0"/>
            <a:chExt cx="469239" cy="344295"/>
          </a:xfrm>
        </p:grpSpPr>
        <p:sp>
          <p:nvSpPr>
            <p:cNvPr name="Freeform 23" id="23"/>
            <p:cNvSpPr/>
            <p:nvPr/>
          </p:nvSpPr>
          <p:spPr>
            <a:xfrm flipH="false" flipV="false" rot="0">
              <a:off x="0" y="0"/>
              <a:ext cx="469239" cy="344295"/>
            </a:xfrm>
            <a:custGeom>
              <a:avLst/>
              <a:gdLst/>
              <a:ahLst/>
              <a:cxnLst/>
              <a:rect r="r" b="b" t="t" l="l"/>
              <a:pathLst>
                <a:path h="344295" w="469239">
                  <a:moveTo>
                    <a:pt x="51122" y="0"/>
                  </a:moveTo>
                  <a:lnTo>
                    <a:pt x="418117" y="0"/>
                  </a:lnTo>
                  <a:cubicBezTo>
                    <a:pt x="446351" y="0"/>
                    <a:pt x="469239" y="22888"/>
                    <a:pt x="469239" y="51122"/>
                  </a:cubicBezTo>
                  <a:lnTo>
                    <a:pt x="469239" y="293173"/>
                  </a:lnTo>
                  <a:cubicBezTo>
                    <a:pt x="469239" y="321407"/>
                    <a:pt x="446351" y="344295"/>
                    <a:pt x="418117" y="344295"/>
                  </a:cubicBezTo>
                  <a:lnTo>
                    <a:pt x="51122" y="344295"/>
                  </a:lnTo>
                  <a:cubicBezTo>
                    <a:pt x="37564" y="344295"/>
                    <a:pt x="24561" y="338909"/>
                    <a:pt x="14973" y="329321"/>
                  </a:cubicBezTo>
                  <a:cubicBezTo>
                    <a:pt x="5386" y="319734"/>
                    <a:pt x="0" y="306731"/>
                    <a:pt x="0" y="293173"/>
                  </a:cubicBezTo>
                  <a:lnTo>
                    <a:pt x="0" y="51122"/>
                  </a:lnTo>
                  <a:cubicBezTo>
                    <a:pt x="0" y="22888"/>
                    <a:pt x="22888" y="0"/>
                    <a:pt x="51122" y="0"/>
                  </a:cubicBezTo>
                  <a:close/>
                </a:path>
              </a:pathLst>
            </a:custGeom>
            <a:blipFill>
              <a:blip r:embed="rId3"/>
              <a:stretch>
                <a:fillRect l="-10052" t="0" r="-10052" b="0"/>
              </a:stretch>
            </a:blipFill>
          </p:spPr>
        </p:sp>
      </p:grpSp>
      <p:grpSp>
        <p:nvGrpSpPr>
          <p:cNvPr name="Group 24" id="24"/>
          <p:cNvGrpSpPr/>
          <p:nvPr/>
        </p:nvGrpSpPr>
        <p:grpSpPr>
          <a:xfrm rot="0">
            <a:off x="5708288" y="3692403"/>
            <a:ext cx="2698742" cy="1204286"/>
            <a:chOff x="0" y="0"/>
            <a:chExt cx="262002" cy="116916"/>
          </a:xfrm>
        </p:grpSpPr>
        <p:sp>
          <p:nvSpPr>
            <p:cNvPr name="Freeform 25" id="25"/>
            <p:cNvSpPr/>
            <p:nvPr/>
          </p:nvSpPr>
          <p:spPr>
            <a:xfrm flipH="false" flipV="false" rot="0">
              <a:off x="0" y="0"/>
              <a:ext cx="262002" cy="116916"/>
            </a:xfrm>
            <a:custGeom>
              <a:avLst/>
              <a:gdLst/>
              <a:ahLst/>
              <a:cxnLst/>
              <a:rect r="r" b="b" t="t" l="l"/>
              <a:pathLst>
                <a:path h="116916" w="262002">
                  <a:moveTo>
                    <a:pt x="58458" y="0"/>
                  </a:moveTo>
                  <a:lnTo>
                    <a:pt x="203544" y="0"/>
                  </a:lnTo>
                  <a:cubicBezTo>
                    <a:pt x="219048" y="0"/>
                    <a:pt x="233917" y="6159"/>
                    <a:pt x="244880" y="17122"/>
                  </a:cubicBezTo>
                  <a:cubicBezTo>
                    <a:pt x="255843" y="28085"/>
                    <a:pt x="262002" y="42954"/>
                    <a:pt x="262002" y="58458"/>
                  </a:cubicBezTo>
                  <a:lnTo>
                    <a:pt x="262002" y="58458"/>
                  </a:lnTo>
                  <a:cubicBezTo>
                    <a:pt x="262002" y="73962"/>
                    <a:pt x="255843" y="88831"/>
                    <a:pt x="244880" y="99794"/>
                  </a:cubicBezTo>
                  <a:cubicBezTo>
                    <a:pt x="233917" y="110757"/>
                    <a:pt x="219048" y="116916"/>
                    <a:pt x="203544" y="116916"/>
                  </a:cubicBezTo>
                  <a:lnTo>
                    <a:pt x="58458" y="116916"/>
                  </a:lnTo>
                  <a:cubicBezTo>
                    <a:pt x="42954" y="116916"/>
                    <a:pt x="28085" y="110757"/>
                    <a:pt x="17122" y="99794"/>
                  </a:cubicBezTo>
                  <a:cubicBezTo>
                    <a:pt x="6159" y="88831"/>
                    <a:pt x="0" y="73962"/>
                    <a:pt x="0" y="58458"/>
                  </a:cubicBezTo>
                  <a:lnTo>
                    <a:pt x="0" y="58458"/>
                  </a:lnTo>
                  <a:cubicBezTo>
                    <a:pt x="0" y="42954"/>
                    <a:pt x="6159" y="28085"/>
                    <a:pt x="17122" y="17122"/>
                  </a:cubicBezTo>
                  <a:cubicBezTo>
                    <a:pt x="28085" y="6159"/>
                    <a:pt x="42954" y="0"/>
                    <a:pt x="58458" y="0"/>
                  </a:cubicBezTo>
                  <a:close/>
                </a:path>
              </a:pathLst>
            </a:custGeom>
            <a:solidFill>
              <a:srgbClr val="2F6BA6"/>
            </a:solidFill>
            <a:ln cap="rnd">
              <a:noFill/>
              <a:prstDash val="solid"/>
              <a:round/>
            </a:ln>
          </p:spPr>
        </p:sp>
        <p:sp>
          <p:nvSpPr>
            <p:cNvPr name="TextBox 26" id="26"/>
            <p:cNvSpPr txBox="true"/>
            <p:nvPr/>
          </p:nvSpPr>
          <p:spPr>
            <a:xfrm>
              <a:off x="0" y="-28575"/>
              <a:ext cx="262002" cy="145491"/>
            </a:xfrm>
            <a:prstGeom prst="rect">
              <a:avLst/>
            </a:prstGeom>
          </p:spPr>
          <p:txBody>
            <a:bodyPr anchor="ctr" rtlCol="false" tIns="50800" lIns="50800" bIns="50800" rIns="50800"/>
            <a:lstStyle/>
            <a:p>
              <a:pPr algn="ctr">
                <a:lnSpc>
                  <a:spcPts val="1679"/>
                </a:lnSpc>
              </a:pPr>
            </a:p>
          </p:txBody>
        </p:sp>
      </p:grpSp>
      <p:grpSp>
        <p:nvGrpSpPr>
          <p:cNvPr name="Group 27" id="27"/>
          <p:cNvGrpSpPr/>
          <p:nvPr/>
        </p:nvGrpSpPr>
        <p:grpSpPr>
          <a:xfrm rot="0">
            <a:off x="9219931" y="4473078"/>
            <a:ext cx="3461733" cy="1544426"/>
            <a:chOff x="0" y="0"/>
            <a:chExt cx="336076" cy="149938"/>
          </a:xfrm>
        </p:grpSpPr>
        <p:sp>
          <p:nvSpPr>
            <p:cNvPr name="Freeform 28" id="28"/>
            <p:cNvSpPr/>
            <p:nvPr/>
          </p:nvSpPr>
          <p:spPr>
            <a:xfrm flipH="false" flipV="false" rot="0">
              <a:off x="0" y="0"/>
              <a:ext cx="336076" cy="149938"/>
            </a:xfrm>
            <a:custGeom>
              <a:avLst/>
              <a:gdLst/>
              <a:ahLst/>
              <a:cxnLst/>
              <a:rect r="r" b="b" t="t" l="l"/>
              <a:pathLst>
                <a:path h="149938" w="336076">
                  <a:moveTo>
                    <a:pt x="51438" y="0"/>
                  </a:moveTo>
                  <a:lnTo>
                    <a:pt x="284638" y="0"/>
                  </a:lnTo>
                  <a:cubicBezTo>
                    <a:pt x="298280" y="0"/>
                    <a:pt x="311363" y="5419"/>
                    <a:pt x="321010" y="15066"/>
                  </a:cubicBezTo>
                  <a:cubicBezTo>
                    <a:pt x="330656" y="24712"/>
                    <a:pt x="336076" y="37796"/>
                    <a:pt x="336076" y="51438"/>
                  </a:cubicBezTo>
                  <a:lnTo>
                    <a:pt x="336076" y="98500"/>
                  </a:lnTo>
                  <a:cubicBezTo>
                    <a:pt x="336076" y="126908"/>
                    <a:pt x="313046" y="149938"/>
                    <a:pt x="284638" y="149938"/>
                  </a:cubicBezTo>
                  <a:lnTo>
                    <a:pt x="51438" y="149938"/>
                  </a:lnTo>
                  <a:cubicBezTo>
                    <a:pt x="23030" y="149938"/>
                    <a:pt x="0" y="126908"/>
                    <a:pt x="0" y="98500"/>
                  </a:cubicBezTo>
                  <a:lnTo>
                    <a:pt x="0" y="51438"/>
                  </a:lnTo>
                  <a:cubicBezTo>
                    <a:pt x="0" y="23030"/>
                    <a:pt x="23030" y="0"/>
                    <a:pt x="51438" y="0"/>
                  </a:cubicBezTo>
                  <a:close/>
                </a:path>
              </a:pathLst>
            </a:custGeom>
            <a:solidFill>
              <a:srgbClr val="FA8142"/>
            </a:solidFill>
            <a:ln cap="rnd">
              <a:noFill/>
              <a:prstDash val="solid"/>
              <a:round/>
            </a:ln>
          </p:spPr>
        </p:sp>
        <p:sp>
          <p:nvSpPr>
            <p:cNvPr name="TextBox 29" id="29"/>
            <p:cNvSpPr txBox="true"/>
            <p:nvPr/>
          </p:nvSpPr>
          <p:spPr>
            <a:xfrm>
              <a:off x="0" y="-28575"/>
              <a:ext cx="336076" cy="178513"/>
            </a:xfrm>
            <a:prstGeom prst="rect">
              <a:avLst/>
            </a:prstGeom>
          </p:spPr>
          <p:txBody>
            <a:bodyPr anchor="ctr" rtlCol="false" tIns="50800" lIns="50800" bIns="50800" rIns="50800"/>
            <a:lstStyle/>
            <a:p>
              <a:pPr algn="ctr">
                <a:lnSpc>
                  <a:spcPts val="1679"/>
                </a:lnSpc>
              </a:pPr>
            </a:p>
          </p:txBody>
        </p:sp>
      </p:grpSp>
      <p:grpSp>
        <p:nvGrpSpPr>
          <p:cNvPr name="Group 30" id="30"/>
          <p:cNvGrpSpPr/>
          <p:nvPr/>
        </p:nvGrpSpPr>
        <p:grpSpPr>
          <a:xfrm rot="0">
            <a:off x="9436402" y="4668805"/>
            <a:ext cx="3028790" cy="2222315"/>
            <a:chOff x="0" y="0"/>
            <a:chExt cx="469239" cy="344295"/>
          </a:xfrm>
        </p:grpSpPr>
        <p:sp>
          <p:nvSpPr>
            <p:cNvPr name="Freeform 31" id="31"/>
            <p:cNvSpPr/>
            <p:nvPr/>
          </p:nvSpPr>
          <p:spPr>
            <a:xfrm flipH="false" flipV="false" rot="0">
              <a:off x="0" y="0"/>
              <a:ext cx="469239" cy="344295"/>
            </a:xfrm>
            <a:custGeom>
              <a:avLst/>
              <a:gdLst/>
              <a:ahLst/>
              <a:cxnLst/>
              <a:rect r="r" b="b" t="t" l="l"/>
              <a:pathLst>
                <a:path h="344295" w="469239">
                  <a:moveTo>
                    <a:pt x="51122" y="0"/>
                  </a:moveTo>
                  <a:lnTo>
                    <a:pt x="418117" y="0"/>
                  </a:lnTo>
                  <a:cubicBezTo>
                    <a:pt x="446351" y="0"/>
                    <a:pt x="469239" y="22888"/>
                    <a:pt x="469239" y="51122"/>
                  </a:cubicBezTo>
                  <a:lnTo>
                    <a:pt x="469239" y="293173"/>
                  </a:lnTo>
                  <a:cubicBezTo>
                    <a:pt x="469239" y="321407"/>
                    <a:pt x="446351" y="344295"/>
                    <a:pt x="418117" y="344295"/>
                  </a:cubicBezTo>
                  <a:lnTo>
                    <a:pt x="51122" y="344295"/>
                  </a:lnTo>
                  <a:cubicBezTo>
                    <a:pt x="37564" y="344295"/>
                    <a:pt x="24561" y="338909"/>
                    <a:pt x="14973" y="329321"/>
                  </a:cubicBezTo>
                  <a:cubicBezTo>
                    <a:pt x="5386" y="319734"/>
                    <a:pt x="0" y="306731"/>
                    <a:pt x="0" y="293173"/>
                  </a:cubicBezTo>
                  <a:lnTo>
                    <a:pt x="0" y="51122"/>
                  </a:lnTo>
                  <a:cubicBezTo>
                    <a:pt x="0" y="22888"/>
                    <a:pt x="22888" y="0"/>
                    <a:pt x="51122" y="0"/>
                  </a:cubicBezTo>
                  <a:close/>
                </a:path>
              </a:pathLst>
            </a:custGeom>
            <a:blipFill>
              <a:blip r:embed="rId4"/>
              <a:stretch>
                <a:fillRect l="-19818" t="0" r="-19818" b="0"/>
              </a:stretch>
            </a:blipFill>
          </p:spPr>
        </p:sp>
      </p:grpSp>
      <p:grpSp>
        <p:nvGrpSpPr>
          <p:cNvPr name="Group 32" id="32"/>
          <p:cNvGrpSpPr/>
          <p:nvPr/>
        </p:nvGrpSpPr>
        <p:grpSpPr>
          <a:xfrm rot="0">
            <a:off x="9601427" y="3692403"/>
            <a:ext cx="2698742" cy="1204286"/>
            <a:chOff x="0" y="0"/>
            <a:chExt cx="262002" cy="116916"/>
          </a:xfrm>
        </p:grpSpPr>
        <p:sp>
          <p:nvSpPr>
            <p:cNvPr name="Freeform 33" id="33"/>
            <p:cNvSpPr/>
            <p:nvPr/>
          </p:nvSpPr>
          <p:spPr>
            <a:xfrm flipH="false" flipV="false" rot="0">
              <a:off x="0" y="0"/>
              <a:ext cx="262002" cy="116916"/>
            </a:xfrm>
            <a:custGeom>
              <a:avLst/>
              <a:gdLst/>
              <a:ahLst/>
              <a:cxnLst/>
              <a:rect r="r" b="b" t="t" l="l"/>
              <a:pathLst>
                <a:path h="116916" w="262002">
                  <a:moveTo>
                    <a:pt x="58458" y="0"/>
                  </a:moveTo>
                  <a:lnTo>
                    <a:pt x="203544" y="0"/>
                  </a:lnTo>
                  <a:cubicBezTo>
                    <a:pt x="219048" y="0"/>
                    <a:pt x="233917" y="6159"/>
                    <a:pt x="244880" y="17122"/>
                  </a:cubicBezTo>
                  <a:cubicBezTo>
                    <a:pt x="255843" y="28085"/>
                    <a:pt x="262002" y="42954"/>
                    <a:pt x="262002" y="58458"/>
                  </a:cubicBezTo>
                  <a:lnTo>
                    <a:pt x="262002" y="58458"/>
                  </a:lnTo>
                  <a:cubicBezTo>
                    <a:pt x="262002" y="73962"/>
                    <a:pt x="255843" y="88831"/>
                    <a:pt x="244880" y="99794"/>
                  </a:cubicBezTo>
                  <a:cubicBezTo>
                    <a:pt x="233917" y="110757"/>
                    <a:pt x="219048" y="116916"/>
                    <a:pt x="203544" y="116916"/>
                  </a:cubicBezTo>
                  <a:lnTo>
                    <a:pt x="58458" y="116916"/>
                  </a:lnTo>
                  <a:cubicBezTo>
                    <a:pt x="42954" y="116916"/>
                    <a:pt x="28085" y="110757"/>
                    <a:pt x="17122" y="99794"/>
                  </a:cubicBezTo>
                  <a:cubicBezTo>
                    <a:pt x="6159" y="88831"/>
                    <a:pt x="0" y="73962"/>
                    <a:pt x="0" y="58458"/>
                  </a:cubicBezTo>
                  <a:lnTo>
                    <a:pt x="0" y="58458"/>
                  </a:lnTo>
                  <a:cubicBezTo>
                    <a:pt x="0" y="42954"/>
                    <a:pt x="6159" y="28085"/>
                    <a:pt x="17122" y="17122"/>
                  </a:cubicBezTo>
                  <a:cubicBezTo>
                    <a:pt x="28085" y="6159"/>
                    <a:pt x="42954" y="0"/>
                    <a:pt x="58458" y="0"/>
                  </a:cubicBezTo>
                  <a:close/>
                </a:path>
              </a:pathLst>
            </a:custGeom>
            <a:solidFill>
              <a:srgbClr val="2F6BA6"/>
            </a:solidFill>
            <a:ln cap="rnd">
              <a:noFill/>
              <a:prstDash val="solid"/>
              <a:round/>
            </a:ln>
          </p:spPr>
        </p:sp>
        <p:sp>
          <p:nvSpPr>
            <p:cNvPr name="TextBox 34" id="34"/>
            <p:cNvSpPr txBox="true"/>
            <p:nvPr/>
          </p:nvSpPr>
          <p:spPr>
            <a:xfrm>
              <a:off x="0" y="-28575"/>
              <a:ext cx="262002" cy="145491"/>
            </a:xfrm>
            <a:prstGeom prst="rect">
              <a:avLst/>
            </a:prstGeom>
          </p:spPr>
          <p:txBody>
            <a:bodyPr anchor="ctr" rtlCol="false" tIns="50800" lIns="50800" bIns="50800" rIns="50800"/>
            <a:lstStyle/>
            <a:p>
              <a:pPr algn="ctr">
                <a:lnSpc>
                  <a:spcPts val="1679"/>
                </a:lnSpc>
              </a:pPr>
            </a:p>
          </p:txBody>
        </p:sp>
      </p:grpSp>
      <p:grpSp>
        <p:nvGrpSpPr>
          <p:cNvPr name="Group 35" id="35"/>
          <p:cNvGrpSpPr/>
          <p:nvPr/>
        </p:nvGrpSpPr>
        <p:grpSpPr>
          <a:xfrm rot="0">
            <a:off x="13113070" y="4473078"/>
            <a:ext cx="3461733" cy="1544426"/>
            <a:chOff x="0" y="0"/>
            <a:chExt cx="336076" cy="149938"/>
          </a:xfrm>
        </p:grpSpPr>
        <p:sp>
          <p:nvSpPr>
            <p:cNvPr name="Freeform 36" id="36"/>
            <p:cNvSpPr/>
            <p:nvPr/>
          </p:nvSpPr>
          <p:spPr>
            <a:xfrm flipH="false" flipV="false" rot="0">
              <a:off x="0" y="0"/>
              <a:ext cx="336076" cy="149938"/>
            </a:xfrm>
            <a:custGeom>
              <a:avLst/>
              <a:gdLst/>
              <a:ahLst/>
              <a:cxnLst/>
              <a:rect r="r" b="b" t="t" l="l"/>
              <a:pathLst>
                <a:path h="149938" w="336076">
                  <a:moveTo>
                    <a:pt x="51438" y="0"/>
                  </a:moveTo>
                  <a:lnTo>
                    <a:pt x="284638" y="0"/>
                  </a:lnTo>
                  <a:cubicBezTo>
                    <a:pt x="298280" y="0"/>
                    <a:pt x="311363" y="5419"/>
                    <a:pt x="321010" y="15066"/>
                  </a:cubicBezTo>
                  <a:cubicBezTo>
                    <a:pt x="330656" y="24712"/>
                    <a:pt x="336076" y="37796"/>
                    <a:pt x="336076" y="51438"/>
                  </a:cubicBezTo>
                  <a:lnTo>
                    <a:pt x="336076" y="98500"/>
                  </a:lnTo>
                  <a:cubicBezTo>
                    <a:pt x="336076" y="126908"/>
                    <a:pt x="313046" y="149938"/>
                    <a:pt x="284638" y="149938"/>
                  </a:cubicBezTo>
                  <a:lnTo>
                    <a:pt x="51438" y="149938"/>
                  </a:lnTo>
                  <a:cubicBezTo>
                    <a:pt x="23030" y="149938"/>
                    <a:pt x="0" y="126908"/>
                    <a:pt x="0" y="98500"/>
                  </a:cubicBezTo>
                  <a:lnTo>
                    <a:pt x="0" y="51438"/>
                  </a:lnTo>
                  <a:cubicBezTo>
                    <a:pt x="0" y="23030"/>
                    <a:pt x="23030" y="0"/>
                    <a:pt x="51438" y="0"/>
                  </a:cubicBezTo>
                  <a:close/>
                </a:path>
              </a:pathLst>
            </a:custGeom>
            <a:solidFill>
              <a:srgbClr val="FA8142"/>
            </a:solidFill>
            <a:ln cap="rnd">
              <a:noFill/>
              <a:prstDash val="solid"/>
              <a:round/>
            </a:ln>
          </p:spPr>
        </p:sp>
        <p:sp>
          <p:nvSpPr>
            <p:cNvPr name="TextBox 37" id="37"/>
            <p:cNvSpPr txBox="true"/>
            <p:nvPr/>
          </p:nvSpPr>
          <p:spPr>
            <a:xfrm>
              <a:off x="0" y="-28575"/>
              <a:ext cx="336076" cy="178513"/>
            </a:xfrm>
            <a:prstGeom prst="rect">
              <a:avLst/>
            </a:prstGeom>
          </p:spPr>
          <p:txBody>
            <a:bodyPr anchor="ctr" rtlCol="false" tIns="50800" lIns="50800" bIns="50800" rIns="50800"/>
            <a:lstStyle/>
            <a:p>
              <a:pPr algn="ctr">
                <a:lnSpc>
                  <a:spcPts val="1679"/>
                </a:lnSpc>
              </a:pPr>
            </a:p>
          </p:txBody>
        </p:sp>
      </p:grpSp>
      <p:grpSp>
        <p:nvGrpSpPr>
          <p:cNvPr name="Group 38" id="38"/>
          <p:cNvGrpSpPr/>
          <p:nvPr/>
        </p:nvGrpSpPr>
        <p:grpSpPr>
          <a:xfrm rot="0">
            <a:off x="13329541" y="4668805"/>
            <a:ext cx="3028790" cy="2222315"/>
            <a:chOff x="0" y="0"/>
            <a:chExt cx="469239" cy="344295"/>
          </a:xfrm>
        </p:grpSpPr>
        <p:sp>
          <p:nvSpPr>
            <p:cNvPr name="Freeform 39" id="39"/>
            <p:cNvSpPr/>
            <p:nvPr/>
          </p:nvSpPr>
          <p:spPr>
            <a:xfrm flipH="false" flipV="false" rot="0">
              <a:off x="0" y="0"/>
              <a:ext cx="469239" cy="344295"/>
            </a:xfrm>
            <a:custGeom>
              <a:avLst/>
              <a:gdLst/>
              <a:ahLst/>
              <a:cxnLst/>
              <a:rect r="r" b="b" t="t" l="l"/>
              <a:pathLst>
                <a:path h="344295" w="469239">
                  <a:moveTo>
                    <a:pt x="51122" y="0"/>
                  </a:moveTo>
                  <a:lnTo>
                    <a:pt x="418117" y="0"/>
                  </a:lnTo>
                  <a:cubicBezTo>
                    <a:pt x="446351" y="0"/>
                    <a:pt x="469239" y="22888"/>
                    <a:pt x="469239" y="51122"/>
                  </a:cubicBezTo>
                  <a:lnTo>
                    <a:pt x="469239" y="293173"/>
                  </a:lnTo>
                  <a:cubicBezTo>
                    <a:pt x="469239" y="321407"/>
                    <a:pt x="446351" y="344295"/>
                    <a:pt x="418117" y="344295"/>
                  </a:cubicBezTo>
                  <a:lnTo>
                    <a:pt x="51122" y="344295"/>
                  </a:lnTo>
                  <a:cubicBezTo>
                    <a:pt x="37564" y="344295"/>
                    <a:pt x="24561" y="338909"/>
                    <a:pt x="14973" y="329321"/>
                  </a:cubicBezTo>
                  <a:cubicBezTo>
                    <a:pt x="5386" y="319734"/>
                    <a:pt x="0" y="306731"/>
                    <a:pt x="0" y="293173"/>
                  </a:cubicBezTo>
                  <a:lnTo>
                    <a:pt x="0" y="51122"/>
                  </a:lnTo>
                  <a:cubicBezTo>
                    <a:pt x="0" y="22888"/>
                    <a:pt x="22888" y="0"/>
                    <a:pt x="51122" y="0"/>
                  </a:cubicBezTo>
                  <a:close/>
                </a:path>
              </a:pathLst>
            </a:custGeom>
            <a:blipFill>
              <a:blip r:embed="rId5"/>
              <a:stretch>
                <a:fillRect l="0" t="-18144" r="0" b="-18144"/>
              </a:stretch>
            </a:blipFill>
          </p:spPr>
        </p:sp>
      </p:grpSp>
      <p:grpSp>
        <p:nvGrpSpPr>
          <p:cNvPr name="Group 40" id="40"/>
          <p:cNvGrpSpPr/>
          <p:nvPr/>
        </p:nvGrpSpPr>
        <p:grpSpPr>
          <a:xfrm rot="0">
            <a:off x="13494565" y="3692403"/>
            <a:ext cx="2698742" cy="1204286"/>
            <a:chOff x="0" y="0"/>
            <a:chExt cx="262002" cy="116916"/>
          </a:xfrm>
        </p:grpSpPr>
        <p:sp>
          <p:nvSpPr>
            <p:cNvPr name="Freeform 41" id="41"/>
            <p:cNvSpPr/>
            <p:nvPr/>
          </p:nvSpPr>
          <p:spPr>
            <a:xfrm flipH="false" flipV="false" rot="0">
              <a:off x="0" y="0"/>
              <a:ext cx="262002" cy="116916"/>
            </a:xfrm>
            <a:custGeom>
              <a:avLst/>
              <a:gdLst/>
              <a:ahLst/>
              <a:cxnLst/>
              <a:rect r="r" b="b" t="t" l="l"/>
              <a:pathLst>
                <a:path h="116916" w="262002">
                  <a:moveTo>
                    <a:pt x="58458" y="0"/>
                  </a:moveTo>
                  <a:lnTo>
                    <a:pt x="203544" y="0"/>
                  </a:lnTo>
                  <a:cubicBezTo>
                    <a:pt x="219048" y="0"/>
                    <a:pt x="233917" y="6159"/>
                    <a:pt x="244880" y="17122"/>
                  </a:cubicBezTo>
                  <a:cubicBezTo>
                    <a:pt x="255843" y="28085"/>
                    <a:pt x="262002" y="42954"/>
                    <a:pt x="262002" y="58458"/>
                  </a:cubicBezTo>
                  <a:lnTo>
                    <a:pt x="262002" y="58458"/>
                  </a:lnTo>
                  <a:cubicBezTo>
                    <a:pt x="262002" y="73962"/>
                    <a:pt x="255843" y="88831"/>
                    <a:pt x="244880" y="99794"/>
                  </a:cubicBezTo>
                  <a:cubicBezTo>
                    <a:pt x="233917" y="110757"/>
                    <a:pt x="219048" y="116916"/>
                    <a:pt x="203544" y="116916"/>
                  </a:cubicBezTo>
                  <a:lnTo>
                    <a:pt x="58458" y="116916"/>
                  </a:lnTo>
                  <a:cubicBezTo>
                    <a:pt x="42954" y="116916"/>
                    <a:pt x="28085" y="110757"/>
                    <a:pt x="17122" y="99794"/>
                  </a:cubicBezTo>
                  <a:cubicBezTo>
                    <a:pt x="6159" y="88831"/>
                    <a:pt x="0" y="73962"/>
                    <a:pt x="0" y="58458"/>
                  </a:cubicBezTo>
                  <a:lnTo>
                    <a:pt x="0" y="58458"/>
                  </a:lnTo>
                  <a:cubicBezTo>
                    <a:pt x="0" y="42954"/>
                    <a:pt x="6159" y="28085"/>
                    <a:pt x="17122" y="17122"/>
                  </a:cubicBezTo>
                  <a:cubicBezTo>
                    <a:pt x="28085" y="6159"/>
                    <a:pt x="42954" y="0"/>
                    <a:pt x="58458" y="0"/>
                  </a:cubicBezTo>
                  <a:close/>
                </a:path>
              </a:pathLst>
            </a:custGeom>
            <a:solidFill>
              <a:srgbClr val="2F6BA6"/>
            </a:solidFill>
            <a:ln cap="rnd">
              <a:noFill/>
              <a:prstDash val="solid"/>
              <a:round/>
            </a:ln>
          </p:spPr>
        </p:sp>
        <p:sp>
          <p:nvSpPr>
            <p:cNvPr name="TextBox 42" id="42"/>
            <p:cNvSpPr txBox="true"/>
            <p:nvPr/>
          </p:nvSpPr>
          <p:spPr>
            <a:xfrm>
              <a:off x="0" y="-28575"/>
              <a:ext cx="262002" cy="145491"/>
            </a:xfrm>
            <a:prstGeom prst="rect">
              <a:avLst/>
            </a:prstGeom>
          </p:spPr>
          <p:txBody>
            <a:bodyPr anchor="ctr" rtlCol="false" tIns="50800" lIns="50800" bIns="50800" rIns="50800"/>
            <a:lstStyle/>
            <a:p>
              <a:pPr algn="ctr">
                <a:lnSpc>
                  <a:spcPts val="1679"/>
                </a:lnSpc>
              </a:pPr>
            </a:p>
          </p:txBody>
        </p:sp>
      </p:grpSp>
      <p:sp>
        <p:nvSpPr>
          <p:cNvPr name="TextBox 43" id="43"/>
          <p:cNvSpPr txBox="true"/>
          <p:nvPr/>
        </p:nvSpPr>
        <p:spPr>
          <a:xfrm rot="0">
            <a:off x="4123168" y="1104900"/>
            <a:ext cx="9762120" cy="987425"/>
          </a:xfrm>
          <a:prstGeom prst="rect">
            <a:avLst/>
          </a:prstGeom>
        </p:spPr>
        <p:txBody>
          <a:bodyPr anchor="t" rtlCol="false" tIns="0" lIns="0" bIns="0" rIns="0">
            <a:spAutoFit/>
          </a:bodyPr>
          <a:lstStyle/>
          <a:p>
            <a:pPr algn="ctr">
              <a:lnSpc>
                <a:spcPts val="6999"/>
              </a:lnSpc>
            </a:pPr>
            <a:r>
              <a:rPr lang="en-US" b="true" sz="6999" i="true">
                <a:solidFill>
                  <a:srgbClr val="2A2F3D"/>
                </a:solidFill>
                <a:latin typeface="Poppins Bold Italics"/>
                <a:ea typeface="Poppins Bold Italics"/>
                <a:cs typeface="Poppins Bold Italics"/>
                <a:sym typeface="Poppins Bold Italics"/>
              </a:rPr>
              <a:t>Key Takeaways</a:t>
            </a:r>
          </a:p>
        </p:txBody>
      </p:sp>
      <p:sp>
        <p:nvSpPr>
          <p:cNvPr name="TextBox 44" id="44"/>
          <p:cNvSpPr txBox="true"/>
          <p:nvPr/>
        </p:nvSpPr>
        <p:spPr>
          <a:xfrm rot="0">
            <a:off x="1028700" y="2987675"/>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Notable Takeaways:</a:t>
            </a:r>
          </a:p>
        </p:txBody>
      </p:sp>
      <p:sp>
        <p:nvSpPr>
          <p:cNvPr name="TextBox 45" id="45"/>
          <p:cNvSpPr txBox="true"/>
          <p:nvPr/>
        </p:nvSpPr>
        <p:spPr>
          <a:xfrm rot="0">
            <a:off x="2635744" y="7951644"/>
            <a:ext cx="13016511" cy="332740"/>
          </a:xfrm>
          <a:prstGeom prst="rect">
            <a:avLst/>
          </a:prstGeom>
        </p:spPr>
        <p:txBody>
          <a:bodyPr anchor="t" rtlCol="false" tIns="0" lIns="0" bIns="0" rIns="0">
            <a:spAutoFit/>
          </a:bodyPr>
          <a:lstStyle/>
          <a:p>
            <a:pPr algn="ctr" marL="0" indent="0" lvl="0">
              <a:lnSpc>
                <a:spcPts val="2420"/>
              </a:lnSpc>
              <a:spcBef>
                <a:spcPct val="0"/>
              </a:spcBef>
            </a:pPr>
            <a:r>
              <a:rPr lang="en-US" sz="2200" spc="-44">
                <a:solidFill>
                  <a:srgbClr val="2A2F3D"/>
                </a:solidFill>
                <a:latin typeface="Poppins"/>
                <a:ea typeface="Poppins"/>
                <a:cs typeface="Poppins"/>
                <a:sym typeface="Poppins"/>
              </a:rPr>
              <a:t>You never know when storing and querying data may be useful for you!</a:t>
            </a:r>
          </a:p>
        </p:txBody>
      </p:sp>
      <p:sp>
        <p:nvSpPr>
          <p:cNvPr name="TextBox 46" id="46"/>
          <p:cNvSpPr txBox="true"/>
          <p:nvPr/>
        </p:nvSpPr>
        <p:spPr>
          <a:xfrm rot="0">
            <a:off x="1168472" y="7388837"/>
            <a:ext cx="15951056" cy="385445"/>
          </a:xfrm>
          <a:prstGeom prst="rect">
            <a:avLst/>
          </a:prstGeom>
        </p:spPr>
        <p:txBody>
          <a:bodyPr anchor="t" rtlCol="false" tIns="0" lIns="0" bIns="0" rIns="0">
            <a:spAutoFit/>
          </a:bodyPr>
          <a:lstStyle/>
          <a:p>
            <a:pPr algn="ctr" marL="0" indent="0" lvl="0">
              <a:lnSpc>
                <a:spcPts val="2859"/>
              </a:lnSpc>
              <a:spcBef>
                <a:spcPct val="0"/>
              </a:spcBef>
            </a:pPr>
            <a:r>
              <a:rPr lang="en-US" b="true" sz="2599" i="true" spc="-51">
                <a:solidFill>
                  <a:srgbClr val="2A2F3D"/>
                </a:solidFill>
                <a:latin typeface="Poppins Bold Italics"/>
                <a:ea typeface="Poppins Bold Italics"/>
                <a:cs typeface="Poppins Bold Italics"/>
                <a:sym typeface="Poppins Bold Italics"/>
              </a:rPr>
              <a:t>MySQL And Databases Are Important!</a:t>
            </a:r>
          </a:p>
        </p:txBody>
      </p:sp>
      <p:sp>
        <p:nvSpPr>
          <p:cNvPr name="TextBox 47" id="47"/>
          <p:cNvSpPr txBox="true"/>
          <p:nvPr/>
        </p:nvSpPr>
        <p:spPr>
          <a:xfrm rot="0">
            <a:off x="2056931" y="3808771"/>
            <a:ext cx="2215177" cy="942975"/>
          </a:xfrm>
          <a:prstGeom prst="rect">
            <a:avLst/>
          </a:prstGeom>
        </p:spPr>
        <p:txBody>
          <a:bodyPr anchor="t" rtlCol="false" tIns="0" lIns="0" bIns="0" rIns="0">
            <a:spAutoFit/>
          </a:bodyPr>
          <a:lstStyle/>
          <a:p>
            <a:pPr algn="ctr">
              <a:lnSpc>
                <a:spcPts val="2400"/>
              </a:lnSpc>
            </a:pPr>
            <a:r>
              <a:rPr lang="en-US" b="true" sz="2000">
                <a:solidFill>
                  <a:srgbClr val="FFFFFF"/>
                </a:solidFill>
                <a:latin typeface="Poppins Bold"/>
                <a:ea typeface="Poppins Bold"/>
                <a:cs typeface="Poppins Bold"/>
                <a:sym typeface="Poppins Bold"/>
              </a:rPr>
              <a:t>How To Correctly Design A Database</a:t>
            </a:r>
          </a:p>
        </p:txBody>
      </p:sp>
      <p:sp>
        <p:nvSpPr>
          <p:cNvPr name="TextBox 48" id="48"/>
          <p:cNvSpPr txBox="true"/>
          <p:nvPr/>
        </p:nvSpPr>
        <p:spPr>
          <a:xfrm rot="0">
            <a:off x="5950070" y="3970696"/>
            <a:ext cx="2215177" cy="552450"/>
          </a:xfrm>
          <a:prstGeom prst="rect">
            <a:avLst/>
          </a:prstGeom>
        </p:spPr>
        <p:txBody>
          <a:bodyPr anchor="t" rtlCol="false" tIns="0" lIns="0" bIns="0" rIns="0">
            <a:spAutoFit/>
          </a:bodyPr>
          <a:lstStyle/>
          <a:p>
            <a:pPr algn="ctr">
              <a:lnSpc>
                <a:spcPts val="2160"/>
              </a:lnSpc>
            </a:pPr>
            <a:r>
              <a:rPr lang="en-US" b="true" sz="1800">
                <a:solidFill>
                  <a:srgbClr val="FFFFFF"/>
                </a:solidFill>
                <a:latin typeface="Poppins Bold"/>
                <a:ea typeface="Poppins Bold"/>
                <a:cs typeface="Poppins Bold"/>
                <a:sym typeface="Poppins Bold"/>
              </a:rPr>
              <a:t>The Importance Of Documentation</a:t>
            </a:r>
          </a:p>
        </p:txBody>
      </p:sp>
      <p:sp>
        <p:nvSpPr>
          <p:cNvPr name="TextBox 49" id="49"/>
          <p:cNvSpPr txBox="true"/>
          <p:nvPr/>
        </p:nvSpPr>
        <p:spPr>
          <a:xfrm rot="0">
            <a:off x="9843209" y="3961171"/>
            <a:ext cx="2215177" cy="638175"/>
          </a:xfrm>
          <a:prstGeom prst="rect">
            <a:avLst/>
          </a:prstGeom>
        </p:spPr>
        <p:txBody>
          <a:bodyPr anchor="t" rtlCol="false" tIns="0" lIns="0" bIns="0" rIns="0">
            <a:spAutoFit/>
          </a:bodyPr>
          <a:lstStyle/>
          <a:p>
            <a:pPr algn="ctr">
              <a:lnSpc>
                <a:spcPts val="2400"/>
              </a:lnSpc>
            </a:pPr>
            <a:r>
              <a:rPr lang="en-US" b="true" sz="2000">
                <a:solidFill>
                  <a:srgbClr val="FFFFFF"/>
                </a:solidFill>
                <a:latin typeface="Poppins Bold"/>
                <a:ea typeface="Poppins Bold"/>
                <a:cs typeface="Poppins Bold"/>
                <a:sym typeface="Poppins Bold"/>
              </a:rPr>
              <a:t>Practical Use Of A Database</a:t>
            </a:r>
          </a:p>
        </p:txBody>
      </p:sp>
      <p:sp>
        <p:nvSpPr>
          <p:cNvPr name="TextBox 50" id="50"/>
          <p:cNvSpPr txBox="true"/>
          <p:nvPr/>
        </p:nvSpPr>
        <p:spPr>
          <a:xfrm rot="0">
            <a:off x="13736348" y="3818296"/>
            <a:ext cx="2215177" cy="971550"/>
          </a:xfrm>
          <a:prstGeom prst="rect">
            <a:avLst/>
          </a:prstGeom>
        </p:spPr>
        <p:txBody>
          <a:bodyPr anchor="t" rtlCol="false" tIns="0" lIns="0" bIns="0" rIns="0">
            <a:spAutoFit/>
          </a:bodyPr>
          <a:lstStyle/>
          <a:p>
            <a:pPr algn="ctr">
              <a:lnSpc>
                <a:spcPts val="1920"/>
              </a:lnSpc>
            </a:pPr>
            <a:r>
              <a:rPr lang="en-US" b="true" sz="1600">
                <a:solidFill>
                  <a:srgbClr val="FFFFFF"/>
                </a:solidFill>
                <a:latin typeface="Poppins Bold"/>
                <a:ea typeface="Poppins Bold"/>
                <a:cs typeface="Poppins Bold"/>
                <a:sym typeface="Poppins Bold"/>
              </a:rPr>
              <a:t>The Need Of Databases To Analyze And Store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959" y="602136"/>
            <a:ext cx="17312083" cy="9082728"/>
            <a:chOff x="0" y="0"/>
            <a:chExt cx="4559561" cy="2392159"/>
          </a:xfrm>
        </p:grpSpPr>
        <p:sp>
          <p:nvSpPr>
            <p:cNvPr name="Freeform 3" id="3"/>
            <p:cNvSpPr/>
            <p:nvPr/>
          </p:nvSpPr>
          <p:spPr>
            <a:xfrm flipH="false" flipV="false" rot="0">
              <a:off x="0" y="0"/>
              <a:ext cx="4559561" cy="2392159"/>
            </a:xfrm>
            <a:custGeom>
              <a:avLst/>
              <a:gdLst/>
              <a:ahLst/>
              <a:cxnLst/>
              <a:rect r="r" b="b" t="t" l="l"/>
              <a:pathLst>
                <a:path h="2392159" w="4559561">
                  <a:moveTo>
                    <a:pt x="15205" y="0"/>
                  </a:moveTo>
                  <a:lnTo>
                    <a:pt x="4544356" y="0"/>
                  </a:lnTo>
                  <a:cubicBezTo>
                    <a:pt x="4552754" y="0"/>
                    <a:pt x="4559561" y="6807"/>
                    <a:pt x="4559561" y="15205"/>
                  </a:cubicBezTo>
                  <a:lnTo>
                    <a:pt x="4559561" y="2376954"/>
                  </a:lnTo>
                  <a:cubicBezTo>
                    <a:pt x="4559561" y="2385351"/>
                    <a:pt x="4552754" y="2392159"/>
                    <a:pt x="4544356" y="2392159"/>
                  </a:cubicBezTo>
                  <a:lnTo>
                    <a:pt x="15205" y="2392159"/>
                  </a:lnTo>
                  <a:cubicBezTo>
                    <a:pt x="11172" y="2392159"/>
                    <a:pt x="7305" y="2390557"/>
                    <a:pt x="4453" y="2387705"/>
                  </a:cubicBezTo>
                  <a:cubicBezTo>
                    <a:pt x="1602" y="2384854"/>
                    <a:pt x="0" y="2380987"/>
                    <a:pt x="0" y="2376954"/>
                  </a:cubicBezTo>
                  <a:lnTo>
                    <a:pt x="0" y="15205"/>
                  </a:lnTo>
                  <a:cubicBezTo>
                    <a:pt x="0" y="6807"/>
                    <a:pt x="6807" y="0"/>
                    <a:pt x="15205" y="0"/>
                  </a:cubicBezTo>
                  <a:close/>
                </a:path>
              </a:pathLst>
            </a:custGeom>
            <a:ln w="76200" cap="rnd">
              <a:solidFill>
                <a:srgbClr val="2F6BA6"/>
              </a:solidFill>
              <a:prstDash val="solid"/>
              <a:round/>
            </a:ln>
          </p:spPr>
        </p:sp>
        <p:sp>
          <p:nvSpPr>
            <p:cNvPr name="TextBox 4" id="4"/>
            <p:cNvSpPr txBox="true"/>
            <p:nvPr/>
          </p:nvSpPr>
          <p:spPr>
            <a:xfrm>
              <a:off x="0" y="-57150"/>
              <a:ext cx="4559561" cy="24493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90750" y="1755288"/>
            <a:ext cx="8900347" cy="8900347"/>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DCE0ED"/>
            </a:solidFill>
            <a:ln cap="sq">
              <a:noFill/>
              <a:prstDash val="solid"/>
              <a:miter/>
            </a:ln>
          </p:spPr>
        </p:sp>
        <p:sp>
          <p:nvSpPr>
            <p:cNvPr name="TextBox 7" id="7"/>
            <p:cNvSpPr txBox="true"/>
            <p:nvPr/>
          </p:nvSpPr>
          <p:spPr>
            <a:xfrm>
              <a:off x="165100" y="127000"/>
              <a:ext cx="393700" cy="4318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590505" y="1028700"/>
            <a:ext cx="8274735" cy="8229600"/>
          </a:xfrm>
          <a:custGeom>
            <a:avLst/>
            <a:gdLst/>
            <a:ahLst/>
            <a:cxnLst/>
            <a:rect r="r" b="b" t="t" l="l"/>
            <a:pathLst>
              <a:path h="8229600" w="8274735">
                <a:moveTo>
                  <a:pt x="0" y="0"/>
                </a:moveTo>
                <a:lnTo>
                  <a:pt x="8274735" y="0"/>
                </a:lnTo>
                <a:lnTo>
                  <a:pt x="8274735" y="8229600"/>
                </a:lnTo>
                <a:lnTo>
                  <a:pt x="0" y="8229600"/>
                </a:lnTo>
                <a:lnTo>
                  <a:pt x="0" y="0"/>
                </a:lnTo>
                <a:close/>
              </a:path>
            </a:pathLst>
          </a:custGeom>
          <a:blipFill>
            <a:blip r:embed="rId2"/>
            <a:stretch>
              <a:fillRect l="0" t="0" r="0" b="0"/>
            </a:stretch>
          </a:blipFill>
        </p:spPr>
      </p:sp>
      <p:grpSp>
        <p:nvGrpSpPr>
          <p:cNvPr name="Group 9" id="9"/>
          <p:cNvGrpSpPr/>
          <p:nvPr/>
        </p:nvGrpSpPr>
        <p:grpSpPr>
          <a:xfrm rot="-10800000">
            <a:off x="-386260" y="-365965"/>
            <a:ext cx="3748769" cy="3748769"/>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C778"/>
            </a:solidFill>
            <a:ln cap="sq">
              <a:noFill/>
              <a:prstDash val="solid"/>
              <a:miter/>
            </a:ln>
          </p:spPr>
        </p:sp>
        <p:sp>
          <p:nvSpPr>
            <p:cNvPr name="TextBox 11" id="11"/>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413047" y="2985503"/>
            <a:ext cx="9085358" cy="4057650"/>
          </a:xfrm>
          <a:prstGeom prst="rect">
            <a:avLst/>
          </a:prstGeom>
        </p:spPr>
        <p:txBody>
          <a:bodyPr anchor="t" rtlCol="false" tIns="0" lIns="0" bIns="0" rIns="0">
            <a:spAutoFit/>
          </a:bodyPr>
          <a:lstStyle/>
          <a:p>
            <a:pPr algn="l">
              <a:lnSpc>
                <a:spcPts val="15000"/>
              </a:lnSpc>
            </a:pPr>
            <a:r>
              <a:rPr lang="en-US" b="true" sz="15000" i="true" spc="-375">
                <a:solidFill>
                  <a:srgbClr val="2A2F3D"/>
                </a:solidFill>
                <a:latin typeface="Poppins Bold Italics"/>
                <a:ea typeface="Poppins Bold Italics"/>
                <a:cs typeface="Poppins Bold Italics"/>
                <a:sym typeface="Poppins Bold Italics"/>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DAHI2P75fhU</dc:identifier>
  <dcterms:modified xsi:type="dcterms:W3CDTF">2011-08-01T06:04:30Z</dcterms:modified>
  <cp:revision>1</cp:revision>
  <dc:title>CPSC-332 Project</dc:title>
</cp:coreProperties>
</file>